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B2B2B"/>
                </a:solidFill>
                <a:latin typeface="Arial"/>
              </a:defRPr>
            </a:pPr>
            <a:r>
              <a:rPr sz="1200" b="0" i="0" u="none" strike="noStrike">
                <a:solidFill>
                  <a:srgbClr val="2B2B2B"/>
                </a:solidFill>
                <a:latin typeface="Arial"/>
              </a:rPr>
              <a:t>Overall status (K transactions)</a:t>
            </a:r>
          </a:p>
        </c:rich>
      </c:tx>
      <c:layout/>
      <c:overlay val="0"/>
    </c:title>
    <c:autoTitleDeleted val="0"/>
    <c:plotArea>
      <c:layout/>
      <c:doughnutChart>
        <c:varyColors val="1"/>
        <c:ser>
          <c:idx val="0"/>
          <c:order val="0"/>
          <c:tx>
            <c:strRef>
              <c:f>Sheet1!$B$1</c:f>
              <c:strCache>
                <c:ptCount val="1"/>
                <c:pt idx="0">
                  <c:v>Status</c:v>
                </c:pt>
              </c:strCache>
            </c:strRef>
          </c:tx>
          <c:spPr>
            <a:solidFill>
              <a:schemeClr val="accent1"/>
            </a:solidFill>
            <a:ln w="9525" cap="flat">
              <a:solidFill>
                <a:srgbClr val="F9F9F9"/>
              </a:solidFill>
              <a:prstDash val="solid"/>
              <a:round/>
            </a:ln>
            <a:effectLst/>
          </c:spPr>
          <c:dPt>
            <c:idx val="0"/>
            <c:bubble3D val="0"/>
            <c:spPr>
              <a:solidFill>
                <a:srgbClr val="A23B82"/>
              </a:solidFill>
              <a:effectLst/>
            </c:spPr>
          </c:dPt>
          <c:dPt>
            <c:idx val="1"/>
            <c:bubble3D val="0"/>
            <c:spPr>
              <a:solidFill>
                <a:srgbClr val="4B1D6E"/>
              </a:solidFill>
              <a:effectLst/>
            </c:spPr>
          </c:dPt>
          <c:dLbls>
            <c:dLbl>
              <c:idx val="0"/>
              <c:numFmt formatCode="General"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dLbl>
              <c:idx val="1"/>
              <c:numFmt formatCode="General"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Successful</c:v>
                </c:pt>
                <c:pt idx="1">
                  <c:v>Failed</c:v>
                </c:pt>
              </c:strCache>
            </c:strRef>
          </c:cat>
          <c:val>
            <c:numRef>
              <c:f>Sheet1!$B$2:$B$3</c:f>
              <c:numCache>
                <c:ptCount val="2"/>
                <c:pt idx="0">
                  <c:v>288</c:v>
                </c:pt>
                <c:pt idx="1">
                  <c:v>10</c:v>
                </c:pt>
              </c:numCache>
            </c:numRef>
          </c:val>
        </c:ser>
        <c:firstSliceAng val="0"/>
        <c:holeSize val="55"/>
      </c:doughnutChart>
      <c:spPr>
        <a:noFill/>
        <a:ln>
          <a:noFill/>
        </a:ln>
        <a:effectLst/>
      </c:spPr>
    </c:plotArea>
    <c:legend>
      <c:legendPos val="b"/>
      <c:overlay val="0"/>
      <c:txPr>
        <a:bodyPr/>
        <a:lstStyle/>
        <a:p>
          <a:pPr>
            <a:defRPr sz="1100">
              <a:solidFill>
                <a:srgbClr val="2B2B2B"/>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B1D6E"/>
        </a:solidFill>
      </p:bgPr>
    </p:bg>
    <p:spTree>
      <p:nvGrpSpPr>
        <p:cNvPr id="1" name=""/>
        <p:cNvGrpSpPr/>
        <p:nvPr/>
      </p:nvGrpSpPr>
      <p:grpSpPr>
        <a:xfrm>
          <a:off x="0" y="0"/>
          <a:ext cx="0" cy="0"/>
          <a:chOff x="0" y="0"/>
          <a:chExt cx="0" cy="0"/>
        </a:xfrm>
      </p:grpSpPr>
      <p:sp>
        <p:nvSpPr>
          <p:cNvPr id="2" name="Shape 0"/>
          <p:cNvSpPr/>
          <p:nvPr/>
        </p:nvSpPr>
        <p:spPr>
          <a:xfrm>
            <a:off x="457200" y="1097280"/>
            <a:ext cx="91440" cy="2194560"/>
          </a:xfrm>
          <a:prstGeom prst="rect">
            <a:avLst/>
          </a:prstGeom>
          <a:solidFill>
            <a:srgbClr val="A23B82"/>
          </a:solidFill>
          <a:ln w="12700">
            <a:solidFill>
              <a:srgbClr val="A23B82"/>
            </a:solidFill>
            <a:prstDash val="solid"/>
          </a:ln>
        </p:spPr>
      </p:sp>
      <p:sp>
        <p:nvSpPr>
          <p:cNvPr id="3" name="Text 1"/>
          <p:cNvSpPr txBox="1"/>
          <p:nvPr/>
        </p:nvSpPr>
        <p:spPr>
          <a:xfrm>
            <a:off x="777240" y="1005840"/>
            <a:ext cx="7680960" cy="1371600"/>
          </a:xfrm>
          <a:prstGeom prst="rect">
            <a:avLst/>
          </a:prstGeom>
          <a:noFill/>
          <a:ln/>
        </p:spPr>
        <p:txBody>
          <a:bodyPr wrap="square" lIns="0" tIns="0" rIns="0" bIns="0" rtlCol="0" anchor="b"/>
          <a:lstStyle/>
          <a:p>
            <a:pPr indent="0" marL="0">
              <a:buNone/>
            </a:pPr>
            <a:r>
              <a:rPr lang="en-US" sz="3400" b="1" dirty="0">
                <a:solidFill>
                  <a:srgbClr val="FFFFFF"/>
                </a:solidFill>
                <a:latin typeface="Calibri" pitchFamily="34" charset="0"/>
                <a:ea typeface="Calibri" pitchFamily="34" charset="-122"/>
                <a:cs typeface="Calibri" pitchFamily="34" charset="-120"/>
              </a:rPr>
              <a:t>PhonePe Transaction Analysis Using Excel and Power BI</a:t>
            </a:r>
            <a:endParaRPr lang="en-US" sz="3400" dirty="0"/>
          </a:p>
        </p:txBody>
      </p:sp>
      <p:sp>
        <p:nvSpPr>
          <p:cNvPr id="4" name="Text 2"/>
          <p:cNvSpPr txBox="1"/>
          <p:nvPr/>
        </p:nvSpPr>
        <p:spPr>
          <a:xfrm>
            <a:off x="777240" y="2468880"/>
            <a:ext cx="7680960" cy="457200"/>
          </a:xfrm>
          <a:prstGeom prst="rect">
            <a:avLst/>
          </a:prstGeom>
          <a:noFill/>
          <a:ln/>
        </p:spPr>
        <p:txBody>
          <a:bodyPr wrap="square" lIns="0" tIns="0" rIns="0" bIns="0" rtlCol="0" anchor="ctr"/>
          <a:lstStyle/>
          <a:p>
            <a:pPr indent="0" marL="0">
              <a:buNone/>
            </a:pPr>
            <a:r>
              <a:rPr lang="en-US" sz="1800" dirty="0">
                <a:solidFill>
                  <a:srgbClr val="E9D5F2"/>
                </a:solidFill>
                <a:latin typeface="Calibri" pitchFamily="34" charset="0"/>
                <a:ea typeface="Calibri" pitchFamily="34" charset="-122"/>
                <a:cs typeface="Calibri" pitchFamily="34" charset="-120"/>
              </a:rPr>
              <a:t>An Interactive Dashboard and Business Case Study</a:t>
            </a:r>
            <a:endParaRPr lang="en-US" sz="1800" dirty="0"/>
          </a:p>
        </p:txBody>
      </p:sp>
      <p:sp>
        <p:nvSpPr>
          <p:cNvPr id="5" name="Text 3"/>
          <p:cNvSpPr txBox="1"/>
          <p:nvPr/>
        </p:nvSpPr>
        <p:spPr>
          <a:xfrm>
            <a:off x="777240" y="4023360"/>
            <a:ext cx="7680960" cy="320040"/>
          </a:xfrm>
          <a:prstGeom prst="rect">
            <a:avLst/>
          </a:prstGeom>
          <a:noFill/>
          <a:ln/>
        </p:spPr>
        <p:txBody>
          <a:bodyPr wrap="square" lIns="0" tIns="0" rIns="0" bIns="0" rtlCol="0" anchor="ctr"/>
          <a:lstStyle/>
          <a:p>
            <a:pPr indent="0" marL="0">
              <a:buNone/>
            </a:pPr>
            <a:r>
              <a:rPr lang="en-US" sz="1200" dirty="0">
                <a:solidFill>
                  <a:srgbClr val="E9D5F2"/>
                </a:solidFill>
                <a:latin typeface="Calibri" pitchFamily="34" charset="0"/>
                <a:ea typeface="Calibri" pitchFamily="34" charset="-122"/>
                <a:cs typeface="Calibri" pitchFamily="34" charset="-120"/>
              </a:rPr>
              <a:t>Data Analytics Portfolio Project  |  Transaction period: January to December 2024</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4B1D6E"/>
          </a:solidFill>
          <a:ln w="12700">
            <a:solidFill>
              <a:srgbClr val="4B1D6E"/>
            </a:solidFill>
            <a:prstDash val="solid"/>
          </a:ln>
        </p:spPr>
      </p:sp>
      <p:sp>
        <p:nvSpPr>
          <p:cNvPr id="3" name="Text 1"/>
          <p:cNvSpPr txBox="1"/>
          <p:nvPr/>
        </p:nvSpPr>
        <p:spPr>
          <a:xfrm>
            <a:off x="457200" y="274320"/>
            <a:ext cx="8229600" cy="502920"/>
          </a:xfrm>
          <a:prstGeom prst="rect">
            <a:avLst/>
          </a:prstGeom>
          <a:noFill/>
          <a:ln/>
        </p:spPr>
        <p:txBody>
          <a:bodyPr wrap="square" lIns="0" tIns="0" rIns="0" bIns="0" rtlCol="0" anchor="ctr"/>
          <a:lstStyle/>
          <a:p>
            <a:pPr indent="0" marL="0">
              <a:buNone/>
            </a:pPr>
            <a:r>
              <a:rPr lang="en-US" sz="2400" b="1" dirty="0">
                <a:solidFill>
                  <a:srgbClr val="4B1D6E"/>
                </a:solidFill>
                <a:latin typeface="Calibri" pitchFamily="34" charset="0"/>
                <a:ea typeface="Calibri" pitchFamily="34" charset="-122"/>
                <a:cs typeface="Calibri" pitchFamily="34" charset="-120"/>
              </a:rPr>
              <a:t>Executive Summary</a:t>
            </a:r>
            <a:endParaRPr lang="en-US" sz="2400" dirty="0"/>
          </a:p>
        </p:txBody>
      </p:sp>
      <p:sp>
        <p:nvSpPr>
          <p:cNvPr id="4" name="Text 2"/>
          <p:cNvSpPr txBox="1"/>
          <p:nvPr/>
        </p:nvSpPr>
        <p:spPr>
          <a:xfrm>
            <a:off x="457200" y="777240"/>
            <a:ext cx="8229600" cy="32004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Overview of the analysis, findings and business value</a:t>
            </a:r>
            <a:endParaRPr lang="en-US" sz="1300" dirty="0"/>
          </a:p>
        </p:txBody>
      </p:sp>
      <p:sp>
        <p:nvSpPr>
          <p:cNvPr id="5" name="Text 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PhonePe Transaction Analysis  |  2</a:t>
            </a:r>
            <a:endParaRPr lang="en-US" sz="900" dirty="0"/>
          </a:p>
        </p:txBody>
      </p:sp>
      <p:sp>
        <p:nvSpPr>
          <p:cNvPr id="6" name="Text 4"/>
          <p:cNvSpPr txBox="1"/>
          <p:nvPr/>
        </p:nvSpPr>
        <p:spPr>
          <a:xfrm>
            <a:off x="457200" y="1280160"/>
            <a:ext cx="8229600" cy="33832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B2B2B"/>
                </a:solidFill>
                <a:latin typeface="Calibri" pitchFamily="34" charset="0"/>
                <a:ea typeface="Calibri" pitchFamily="34" charset="-122"/>
                <a:cs typeface="Calibri" pitchFamily="34" charset="-120"/>
              </a:rPr>
              <a:t>Analysed 300,000 transactions across four services: Money Transfer, Loans, Insurance and Recharge &amp; Bills.</a:t>
            </a:r>
            <a:endParaRPr lang="en-US" sz="1500" dirty="0"/>
          </a:p>
          <a:p>
            <a:pPr marL="342900" indent="-342900">
              <a:spcAft>
                <a:spcPts val="800"/>
              </a:spcAft>
              <a:buSzPct val="100000"/>
              <a:buChar char="•"/>
            </a:pPr>
            <a:r>
              <a:rPr lang="en-US" sz="1500" dirty="0">
                <a:solidFill>
                  <a:srgbClr val="2B2B2B"/>
                </a:solidFill>
                <a:latin typeface="Calibri" pitchFamily="34" charset="0"/>
                <a:ea typeface="Calibri" pitchFamily="34" charset="-122"/>
                <a:cs typeface="Calibri" pitchFamily="34" charset="-120"/>
              </a:rPr>
              <a:t>Cleaned and validated the dataset in Excel before building the Power BI data model.</a:t>
            </a:r>
            <a:endParaRPr lang="en-US" sz="1500" dirty="0"/>
          </a:p>
          <a:p>
            <a:pPr marL="342900" indent="-342900">
              <a:spcAft>
                <a:spcPts val="800"/>
              </a:spcAft>
              <a:buSzPct val="100000"/>
              <a:buChar char="•"/>
            </a:pPr>
            <a:r>
              <a:rPr lang="en-US" sz="1500" dirty="0">
                <a:solidFill>
                  <a:srgbClr val="2B2B2B"/>
                </a:solidFill>
                <a:latin typeface="Calibri" pitchFamily="34" charset="0"/>
                <a:ea typeface="Calibri" pitchFamily="34" charset="-122"/>
                <a:cs typeface="Calibri" pitchFamily="34" charset="-120"/>
              </a:rPr>
              <a:t>Built a five-page interactive dashboard with KPI cards, payment status and failure-reason breakdowns.</a:t>
            </a:r>
            <a:endParaRPr lang="en-US" sz="1500" dirty="0"/>
          </a:p>
          <a:p>
            <a:pPr marL="342900" indent="-342900">
              <a:spcAft>
                <a:spcPts val="800"/>
              </a:spcAft>
              <a:buSzPct val="100000"/>
              <a:buChar char="•"/>
            </a:pPr>
            <a:r>
              <a:rPr lang="en-US" sz="1500" dirty="0">
                <a:solidFill>
                  <a:srgbClr val="2B2B2B"/>
                </a:solidFill>
                <a:latin typeface="Calibri" pitchFamily="34" charset="0"/>
                <a:ea typeface="Calibri" pitchFamily="34" charset="-122"/>
                <a:cs typeface="Calibri" pitchFamily="34" charset="-120"/>
              </a:rPr>
              <a:t>Dashboard shows 288K successful transactions with a total amount of 3.3bn, and 10K failed transactions.</a:t>
            </a:r>
            <a:endParaRPr lang="en-US" sz="1500" dirty="0"/>
          </a:p>
          <a:p>
            <a:pPr marL="342900" indent="-342900">
              <a:spcAft>
                <a:spcPts val="800"/>
              </a:spcAft>
              <a:buSzPct val="100000"/>
              <a:buChar char="•"/>
            </a:pPr>
            <a:r>
              <a:rPr lang="en-US" sz="1500" dirty="0">
                <a:solidFill>
                  <a:srgbClr val="2B2B2B"/>
                </a:solidFill>
                <a:latin typeface="Calibri" pitchFamily="34" charset="0"/>
                <a:ea typeface="Calibri" pitchFamily="34" charset="-122"/>
                <a:cs typeface="Calibri" pitchFamily="34" charset="-120"/>
              </a:rPr>
              <a:t>Failed payments split almost evenly across Server error, Wrong PIN and Insufficient amount in each service.</a:t>
            </a:r>
            <a:endParaRPr lang="en-US" sz="1500" dirty="0"/>
          </a:p>
          <a:p>
            <a:pPr marL="342900" indent="-342900">
              <a:spcAft>
                <a:spcPts val="800"/>
              </a:spcAft>
              <a:buSzPct val="100000"/>
              <a:buChar char="•"/>
            </a:pPr>
            <a:r>
              <a:rPr lang="en-US" sz="1500" dirty="0">
                <a:solidFill>
                  <a:srgbClr val="2B2B2B"/>
                </a:solidFill>
                <a:latin typeface="Calibri" pitchFamily="34" charset="0"/>
                <a:ea typeface="Calibri" pitchFamily="34" charset="-122"/>
                <a:cs typeface="Calibri" pitchFamily="34" charset="-120"/>
              </a:rPr>
              <a:t>Value: stakeholders get a self-serve view of payment performance by service, instead of manual analysis.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4B1D6E"/>
          </a:solidFill>
          <a:ln w="12700">
            <a:solidFill>
              <a:srgbClr val="4B1D6E"/>
            </a:solidFill>
            <a:prstDash val="solid"/>
          </a:ln>
        </p:spPr>
      </p:sp>
      <p:sp>
        <p:nvSpPr>
          <p:cNvPr id="3" name="Text 1"/>
          <p:cNvSpPr txBox="1"/>
          <p:nvPr/>
        </p:nvSpPr>
        <p:spPr>
          <a:xfrm>
            <a:off x="457200" y="274320"/>
            <a:ext cx="8229600" cy="502920"/>
          </a:xfrm>
          <a:prstGeom prst="rect">
            <a:avLst/>
          </a:prstGeom>
          <a:noFill/>
          <a:ln/>
        </p:spPr>
        <p:txBody>
          <a:bodyPr wrap="square" lIns="0" tIns="0" rIns="0" bIns="0" rtlCol="0" anchor="ctr"/>
          <a:lstStyle/>
          <a:p>
            <a:pPr indent="0" marL="0">
              <a:buNone/>
            </a:pPr>
            <a:r>
              <a:rPr lang="en-US" sz="2400" b="1" dirty="0">
                <a:solidFill>
                  <a:srgbClr val="4B1D6E"/>
                </a:solidFill>
                <a:latin typeface="Calibri" pitchFamily="34" charset="0"/>
                <a:ea typeface="Calibri" pitchFamily="34" charset="-122"/>
                <a:cs typeface="Calibri" pitchFamily="34" charset="-120"/>
              </a:rPr>
              <a:t>Problem Statement</a:t>
            </a:r>
            <a:endParaRPr lang="en-US" sz="2400" dirty="0"/>
          </a:p>
        </p:txBody>
      </p:sp>
      <p:sp>
        <p:nvSpPr>
          <p:cNvPr id="4" name="Text 2"/>
          <p:cNvSpPr txBox="1"/>
          <p:nvPr/>
        </p:nvSpPr>
        <p:spPr>
          <a:xfrm>
            <a:off x="457200" y="777240"/>
            <a:ext cx="8229600" cy="32004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Why this analysis matters</a:t>
            </a:r>
            <a:endParaRPr lang="en-US" sz="1300" dirty="0"/>
          </a:p>
        </p:txBody>
      </p:sp>
      <p:sp>
        <p:nvSpPr>
          <p:cNvPr id="5" name="Text 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PhonePe Transaction Analysis  |  3</a:t>
            </a:r>
            <a:endParaRPr lang="en-US" sz="900" dirty="0"/>
          </a:p>
        </p:txBody>
      </p:sp>
      <p:sp>
        <p:nvSpPr>
          <p:cNvPr id="6" name="Shape 4"/>
          <p:cNvSpPr/>
          <p:nvPr/>
        </p:nvSpPr>
        <p:spPr>
          <a:xfrm>
            <a:off x="457200" y="1280160"/>
            <a:ext cx="3840480" cy="3291840"/>
          </a:xfrm>
          <a:prstGeom prst="rect">
            <a:avLst/>
          </a:prstGeom>
          <a:solidFill>
            <a:srgbClr val="F6EEF9"/>
          </a:solidFill>
          <a:ln w="9525">
            <a:solidFill>
              <a:srgbClr val="D9C6E4"/>
            </a:solidFill>
            <a:prstDash val="solid"/>
          </a:ln>
        </p:spPr>
      </p:sp>
      <p:sp>
        <p:nvSpPr>
          <p:cNvPr id="7" name="Shape 5"/>
          <p:cNvSpPr/>
          <p:nvPr/>
        </p:nvSpPr>
        <p:spPr>
          <a:xfrm>
            <a:off x="457200" y="1280160"/>
            <a:ext cx="64008" cy="3291840"/>
          </a:xfrm>
          <a:prstGeom prst="rect">
            <a:avLst/>
          </a:prstGeom>
          <a:solidFill>
            <a:srgbClr val="A23B82"/>
          </a:solidFill>
          <a:ln w="12700">
            <a:solidFill>
              <a:srgbClr val="A23B82"/>
            </a:solidFill>
            <a:prstDash val="solid"/>
          </a:ln>
        </p:spPr>
      </p:sp>
      <p:sp>
        <p:nvSpPr>
          <p:cNvPr id="8" name="Text 6"/>
          <p:cNvSpPr txBox="1"/>
          <p:nvPr/>
        </p:nvSpPr>
        <p:spPr>
          <a:xfrm>
            <a:off x="640080" y="1353312"/>
            <a:ext cx="3566160" cy="320040"/>
          </a:xfrm>
          <a:prstGeom prst="rect">
            <a:avLst/>
          </a:prstGeom>
          <a:noFill/>
          <a:ln/>
        </p:spPr>
        <p:txBody>
          <a:bodyPr wrap="square" lIns="0" tIns="0" rIns="0" bIns="0" rtlCol="0" anchor="ctr"/>
          <a:lstStyle/>
          <a:p>
            <a:pPr indent="0" marL="0">
              <a:buNone/>
            </a:pPr>
            <a:r>
              <a:rPr lang="en-US" sz="1400" b="1" dirty="0">
                <a:solidFill>
                  <a:srgbClr val="4B1D6E"/>
                </a:solidFill>
                <a:latin typeface="Calibri" pitchFamily="34" charset="0"/>
                <a:ea typeface="Calibri" pitchFamily="34" charset="-122"/>
                <a:cs typeface="Calibri" pitchFamily="34" charset="-120"/>
              </a:rPr>
              <a:t>The business problem</a:t>
            </a:r>
            <a:endParaRPr lang="en-US" sz="1400" dirty="0"/>
          </a:p>
        </p:txBody>
      </p:sp>
      <p:sp>
        <p:nvSpPr>
          <p:cNvPr id="9" name="Text 7"/>
          <p:cNvSpPr txBox="1"/>
          <p:nvPr/>
        </p:nvSpPr>
        <p:spPr>
          <a:xfrm>
            <a:off x="640080" y="1691640"/>
            <a:ext cx="3566160" cy="2788920"/>
          </a:xfrm>
          <a:prstGeom prst="rect">
            <a:avLst/>
          </a:prstGeom>
          <a:noFill/>
          <a:ln/>
        </p:spPr>
        <p:txBody>
          <a:bodyPr wrap="square" lIns="0" tIns="0" rIns="0" bIns="0" rtlCol="0" anchor="t"/>
          <a:lstStyle/>
          <a:p>
            <a:pPr indent="0" marL="0">
              <a:buNone/>
            </a:pPr>
            <a:r>
              <a:rPr lang="en-US" sz="1150" dirty="0">
                <a:solidFill>
                  <a:srgbClr val="2B2B2B"/>
                </a:solidFill>
                <a:latin typeface="Calibri" pitchFamily="34" charset="0"/>
                <a:ea typeface="Calibri" pitchFamily="34" charset="-122"/>
                <a:cs typeface="Calibri" pitchFamily="34" charset="-120"/>
              </a:rPr>
              <a:t>Digital payment data covers several services and sits in separate tables. Without one consolidated view, it is hard to see how many payments succeed or fail, how much value each service handles, and why payments fail.</a:t>
            </a:r>
            <a:endParaRPr lang="en-US" sz="1150" dirty="0"/>
          </a:p>
          <a:p>
            <a:pPr indent="0" marL="0">
              <a:buNone/>
            </a:pPr>
            <a:endParaRPr lang="en-US" sz="1150" dirty="0"/>
          </a:p>
          <a:p>
            <a:pPr indent="0" marL="0">
              <a:buNone/>
            </a:pPr>
            <a:r>
              <a:rPr lang="en-US" sz="1150" dirty="0">
                <a:solidFill>
                  <a:srgbClr val="2B2B2B"/>
                </a:solidFill>
                <a:latin typeface="Calibri" pitchFamily="34" charset="0"/>
                <a:ea typeface="Calibri" pitchFamily="34" charset="-122"/>
                <a:cs typeface="Calibri" pitchFamily="34" charset="-120"/>
              </a:rPr>
              <a:t>This project turns the raw transaction data into a single interactive dashboard that answers those questions.</a:t>
            </a:r>
            <a:endParaRPr lang="en-US" sz="1150" dirty="0"/>
          </a:p>
        </p:txBody>
      </p:sp>
      <p:sp>
        <p:nvSpPr>
          <p:cNvPr id="10" name="Shape 8"/>
          <p:cNvSpPr/>
          <p:nvPr/>
        </p:nvSpPr>
        <p:spPr>
          <a:xfrm>
            <a:off x="4480560" y="1280160"/>
            <a:ext cx="4206240" cy="3291840"/>
          </a:xfrm>
          <a:prstGeom prst="rect">
            <a:avLst/>
          </a:prstGeom>
          <a:solidFill>
            <a:srgbClr val="F6EEF9"/>
          </a:solidFill>
          <a:ln w="9525">
            <a:solidFill>
              <a:srgbClr val="D9C6E4"/>
            </a:solidFill>
            <a:prstDash val="solid"/>
          </a:ln>
        </p:spPr>
      </p:sp>
      <p:sp>
        <p:nvSpPr>
          <p:cNvPr id="11" name="Shape 9"/>
          <p:cNvSpPr/>
          <p:nvPr/>
        </p:nvSpPr>
        <p:spPr>
          <a:xfrm>
            <a:off x="4480560" y="1280160"/>
            <a:ext cx="64008" cy="3291840"/>
          </a:xfrm>
          <a:prstGeom prst="rect">
            <a:avLst/>
          </a:prstGeom>
          <a:solidFill>
            <a:srgbClr val="A23B82"/>
          </a:solidFill>
          <a:ln w="12700">
            <a:solidFill>
              <a:srgbClr val="A23B82"/>
            </a:solidFill>
            <a:prstDash val="solid"/>
          </a:ln>
        </p:spPr>
      </p:sp>
      <p:sp>
        <p:nvSpPr>
          <p:cNvPr id="12" name="Text 10"/>
          <p:cNvSpPr txBox="1"/>
          <p:nvPr/>
        </p:nvSpPr>
        <p:spPr>
          <a:xfrm>
            <a:off x="4663440" y="1353312"/>
            <a:ext cx="3931920" cy="320040"/>
          </a:xfrm>
          <a:prstGeom prst="rect">
            <a:avLst/>
          </a:prstGeom>
          <a:noFill/>
          <a:ln/>
        </p:spPr>
        <p:txBody>
          <a:bodyPr wrap="square" lIns="0" tIns="0" rIns="0" bIns="0" rtlCol="0" anchor="ctr"/>
          <a:lstStyle/>
          <a:p>
            <a:pPr indent="0" marL="0">
              <a:buNone/>
            </a:pPr>
            <a:r>
              <a:rPr lang="en-US" sz="1400" b="1" dirty="0">
                <a:solidFill>
                  <a:srgbClr val="4B1D6E"/>
                </a:solidFill>
                <a:latin typeface="Calibri" pitchFamily="34" charset="0"/>
                <a:ea typeface="Calibri" pitchFamily="34" charset="-122"/>
                <a:cs typeface="Calibri" pitchFamily="34" charset="-120"/>
              </a:rPr>
              <a:t>Key business questions</a:t>
            </a:r>
            <a:endParaRPr lang="en-US" sz="1400" dirty="0"/>
          </a:p>
        </p:txBody>
      </p:sp>
      <p:sp>
        <p:nvSpPr>
          <p:cNvPr id="13" name="Text 11"/>
          <p:cNvSpPr txBox="1"/>
          <p:nvPr/>
        </p:nvSpPr>
        <p:spPr>
          <a:xfrm>
            <a:off x="4663440" y="1691640"/>
            <a:ext cx="3931920" cy="2788920"/>
          </a:xfrm>
          <a:prstGeom prst="rect">
            <a:avLst/>
          </a:prstGeom>
          <a:noFill/>
          <a:ln/>
        </p:spPr>
        <p:txBody>
          <a:bodyPr wrap="square" lIns="0" tIns="0" rIns="0" bIns="0" rtlCol="0" anchor="t"/>
          <a:lstStyle/>
          <a:p>
            <a:pPr indent="0" marL="0">
              <a:buNone/>
            </a:pPr>
            <a:r>
              <a:rPr lang="en-US" sz="1150" dirty="0">
                <a:solidFill>
                  <a:srgbClr val="2B2B2B"/>
                </a:solidFill>
                <a:latin typeface="Calibri" pitchFamily="34" charset="0"/>
                <a:ea typeface="Calibri" pitchFamily="34" charset="-122"/>
                <a:cs typeface="Calibri" pitchFamily="34" charset="-120"/>
              </a:rPr>
              <a:t>1.  How many transactions succeed or fail, by service?</a:t>
            </a:r>
            <a:endParaRPr lang="en-US" sz="1150" dirty="0"/>
          </a:p>
          <a:p>
            <a:pPr indent="0" marL="0">
              <a:buNone/>
            </a:pPr>
            <a:endParaRPr lang="en-US" sz="1150" dirty="0"/>
          </a:p>
          <a:p>
            <a:pPr indent="0" marL="0">
              <a:buNone/>
            </a:pPr>
            <a:r>
              <a:rPr lang="en-US" sz="1150" dirty="0">
                <a:solidFill>
                  <a:srgbClr val="2B2B2B"/>
                </a:solidFill>
                <a:latin typeface="Calibri" pitchFamily="34" charset="0"/>
                <a:ea typeface="Calibri" pitchFamily="34" charset="-122"/>
                <a:cs typeface="Calibri" pitchFamily="34" charset="-120"/>
              </a:rPr>
              <a:t>2.  What is the total transaction value for each service?</a:t>
            </a:r>
            <a:endParaRPr lang="en-US" sz="1150" dirty="0"/>
          </a:p>
          <a:p>
            <a:pPr indent="0" marL="0">
              <a:buNone/>
            </a:pPr>
            <a:endParaRPr lang="en-US" sz="1150" dirty="0"/>
          </a:p>
          <a:p>
            <a:pPr indent="0" marL="0">
              <a:buNone/>
            </a:pPr>
            <a:r>
              <a:rPr lang="en-US" sz="1150" dirty="0">
                <a:solidFill>
                  <a:srgbClr val="2B2B2B"/>
                </a:solidFill>
                <a:latin typeface="Calibri" pitchFamily="34" charset="0"/>
                <a:ea typeface="Calibri" pitchFamily="34" charset="-122"/>
                <a:cs typeface="Calibri" pitchFamily="34" charset="-120"/>
              </a:rPr>
              <a:t>3.  Why do transactions fail, and what share does each reason account for?</a:t>
            </a:r>
            <a:endParaRPr lang="en-US" sz="1150" dirty="0"/>
          </a:p>
          <a:p>
            <a:pPr indent="0" marL="0">
              <a:buNone/>
            </a:pPr>
            <a:endParaRPr lang="en-US" sz="1150" dirty="0"/>
          </a:p>
          <a:p>
            <a:pPr indent="0" marL="0">
              <a:buNone/>
            </a:pPr>
            <a:r>
              <a:rPr lang="en-US" sz="1150" dirty="0">
                <a:solidFill>
                  <a:srgbClr val="2B2B2B"/>
                </a:solidFill>
                <a:latin typeface="Calibri" pitchFamily="34" charset="0"/>
                <a:ea typeface="Calibri" pitchFamily="34" charset="-122"/>
                <a:cs typeface="Calibri" pitchFamily="34" charset="-120"/>
              </a:rPr>
              <a:t>4.  Which services carry the most volume and value?</a:t>
            </a:r>
            <a:endParaRPr lang="en-US" sz="1150" dirty="0"/>
          </a:p>
          <a:p>
            <a:pPr indent="0" marL="0">
              <a:buNone/>
            </a:pPr>
            <a:endParaRPr lang="en-US" sz="1150" dirty="0"/>
          </a:p>
          <a:p>
            <a:pPr indent="0" marL="0">
              <a:buNone/>
            </a:pPr>
            <a:r>
              <a:rPr lang="en-US" sz="1150" dirty="0">
                <a:solidFill>
                  <a:srgbClr val="2B2B2B"/>
                </a:solidFill>
                <a:latin typeface="Calibri" pitchFamily="34" charset="0"/>
                <a:ea typeface="Calibri" pitchFamily="34" charset="-122"/>
                <a:cs typeface="Calibri" pitchFamily="34" charset="-120"/>
              </a:rPr>
              <a:t>5.  How can stakeholders monitor these KPIs without manual work?</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4B1D6E"/>
          </a:solidFill>
          <a:ln w="12700">
            <a:solidFill>
              <a:srgbClr val="4B1D6E"/>
            </a:solidFill>
            <a:prstDash val="solid"/>
          </a:ln>
        </p:spPr>
      </p:sp>
      <p:sp>
        <p:nvSpPr>
          <p:cNvPr id="3" name="Text 1"/>
          <p:cNvSpPr txBox="1"/>
          <p:nvPr/>
        </p:nvSpPr>
        <p:spPr>
          <a:xfrm>
            <a:off x="457200" y="274320"/>
            <a:ext cx="8229600" cy="502920"/>
          </a:xfrm>
          <a:prstGeom prst="rect">
            <a:avLst/>
          </a:prstGeom>
          <a:noFill/>
          <a:ln/>
        </p:spPr>
        <p:txBody>
          <a:bodyPr wrap="square" lIns="0" tIns="0" rIns="0" bIns="0" rtlCol="0" anchor="ctr"/>
          <a:lstStyle/>
          <a:p>
            <a:pPr indent="0" marL="0">
              <a:buNone/>
            </a:pPr>
            <a:r>
              <a:rPr lang="en-US" sz="2400" b="1" dirty="0">
                <a:solidFill>
                  <a:srgbClr val="4B1D6E"/>
                </a:solidFill>
                <a:latin typeface="Calibri" pitchFamily="34" charset="0"/>
                <a:ea typeface="Calibri" pitchFamily="34" charset="-122"/>
                <a:cs typeface="Calibri" pitchFamily="34" charset="-120"/>
              </a:rPr>
              <a:t>Project Objectives</a:t>
            </a:r>
            <a:endParaRPr lang="en-US" sz="2400" dirty="0"/>
          </a:p>
        </p:txBody>
      </p:sp>
      <p:sp>
        <p:nvSpPr>
          <p:cNvPr id="4" name="Text 2"/>
          <p:cNvSpPr txBox="1"/>
          <p:nvPr/>
        </p:nvSpPr>
        <p:spPr>
          <a:xfrm>
            <a:off x="457200" y="777240"/>
            <a:ext cx="8229600" cy="32004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What the project set out to achieve</a:t>
            </a:r>
            <a:endParaRPr lang="en-US" sz="1300" dirty="0"/>
          </a:p>
        </p:txBody>
      </p:sp>
      <p:sp>
        <p:nvSpPr>
          <p:cNvPr id="5" name="Text 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PhonePe Transaction Analysis  |  4</a:t>
            </a:r>
            <a:endParaRPr lang="en-US" sz="900" dirty="0"/>
          </a:p>
        </p:txBody>
      </p:sp>
      <p:sp>
        <p:nvSpPr>
          <p:cNvPr id="6" name="Text 4"/>
          <p:cNvSpPr txBox="1"/>
          <p:nvPr/>
        </p:nvSpPr>
        <p:spPr>
          <a:xfrm>
            <a:off x="457200" y="1280160"/>
            <a:ext cx="8229600" cy="33832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B2B2B"/>
                </a:solidFill>
                <a:latin typeface="Calibri" pitchFamily="34" charset="0"/>
                <a:ea typeface="Calibri" pitchFamily="34" charset="-122"/>
                <a:cs typeface="Calibri" pitchFamily="34" charset="-120"/>
              </a:rPr>
              <a:t>Measure overall transaction performance: volume, value and success rate.</a:t>
            </a:r>
            <a:endParaRPr lang="en-US" sz="1500" dirty="0"/>
          </a:p>
          <a:p>
            <a:pPr marL="342900" indent="-342900">
              <a:spcAft>
                <a:spcPts val="800"/>
              </a:spcAft>
              <a:buSzPct val="100000"/>
              <a:buChar char="•"/>
            </a:pPr>
            <a:r>
              <a:rPr lang="en-US" sz="1500" dirty="0">
                <a:solidFill>
                  <a:srgbClr val="2B2B2B"/>
                </a:solidFill>
                <a:latin typeface="Calibri" pitchFamily="34" charset="0"/>
                <a:ea typeface="Calibri" pitchFamily="34" charset="-122"/>
                <a:cs typeface="Calibri" pitchFamily="34" charset="-120"/>
              </a:rPr>
              <a:t>Track successful and failed transactions, and the reasons for failure.</a:t>
            </a:r>
            <a:endParaRPr lang="en-US" sz="1500" dirty="0"/>
          </a:p>
          <a:p>
            <a:pPr marL="342900" indent="-342900">
              <a:spcAft>
                <a:spcPts val="800"/>
              </a:spcAft>
              <a:buSzPct val="100000"/>
              <a:buChar char="•"/>
            </a:pPr>
            <a:r>
              <a:rPr lang="en-US" sz="1500" dirty="0">
                <a:solidFill>
                  <a:srgbClr val="2B2B2B"/>
                </a:solidFill>
                <a:latin typeface="Calibri" pitchFamily="34" charset="0"/>
                <a:ea typeface="Calibri" pitchFamily="34" charset="-122"/>
                <a:cs typeface="Calibri" pitchFamily="34" charset="-120"/>
              </a:rPr>
              <a:t>Compare the four services on transaction count and total amount.</a:t>
            </a:r>
            <a:endParaRPr lang="en-US" sz="1500" dirty="0"/>
          </a:p>
          <a:p>
            <a:pPr marL="342900" indent="-342900">
              <a:spcAft>
                <a:spcPts val="800"/>
              </a:spcAft>
              <a:buSzPct val="100000"/>
              <a:buChar char="•"/>
            </a:pPr>
            <a:r>
              <a:rPr lang="en-US" sz="1500" dirty="0">
                <a:solidFill>
                  <a:srgbClr val="2B2B2B"/>
                </a:solidFill>
                <a:latin typeface="Calibri" pitchFamily="34" charset="0"/>
                <a:ea typeface="Calibri" pitchFamily="34" charset="-122"/>
                <a:cs typeface="Calibri" pitchFamily="34" charset="-120"/>
              </a:rPr>
              <a:t>Show payment status and failure-reason mix within each service.</a:t>
            </a:r>
            <a:endParaRPr lang="en-US" sz="1500" dirty="0"/>
          </a:p>
          <a:p>
            <a:pPr marL="342900" indent="-342900">
              <a:spcAft>
                <a:spcPts val="800"/>
              </a:spcAft>
              <a:buSzPct val="100000"/>
              <a:buChar char="•"/>
            </a:pPr>
            <a:r>
              <a:rPr lang="en-US" sz="1500" dirty="0">
                <a:solidFill>
                  <a:srgbClr val="2B2B2B"/>
                </a:solidFill>
                <a:latin typeface="Calibri" pitchFamily="34" charset="0"/>
                <a:ea typeface="Calibri" pitchFamily="34" charset="-122"/>
                <a:cs typeface="Calibri" pitchFamily="34" charset="-120"/>
              </a:rPr>
              <a:t>Provide interactive filters (date range and service navigation) for self-serve exploration.</a:t>
            </a:r>
            <a:endParaRPr lang="en-US" sz="1500" dirty="0"/>
          </a:p>
          <a:p>
            <a:pPr marL="342900" indent="-342900">
              <a:spcAft>
                <a:spcPts val="800"/>
              </a:spcAft>
              <a:buSzPct val="100000"/>
              <a:buChar char="•"/>
            </a:pPr>
            <a:r>
              <a:rPr lang="en-US" sz="1500" dirty="0">
                <a:solidFill>
                  <a:srgbClr val="2B2B2B"/>
                </a:solidFill>
                <a:latin typeface="Calibri" pitchFamily="34" charset="0"/>
                <a:ea typeface="Calibri" pitchFamily="34" charset="-122"/>
                <a:cs typeface="Calibri" pitchFamily="34" charset="-120"/>
              </a:rPr>
              <a:t>Turn results into practical recommendations for reducing payment failures.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4B1D6E"/>
          </a:solidFill>
          <a:ln w="12700">
            <a:solidFill>
              <a:srgbClr val="4B1D6E"/>
            </a:solidFill>
            <a:prstDash val="solid"/>
          </a:ln>
        </p:spPr>
      </p:sp>
      <p:sp>
        <p:nvSpPr>
          <p:cNvPr id="3" name="Text 1"/>
          <p:cNvSpPr txBox="1"/>
          <p:nvPr/>
        </p:nvSpPr>
        <p:spPr>
          <a:xfrm>
            <a:off x="457200" y="274320"/>
            <a:ext cx="8229600" cy="502920"/>
          </a:xfrm>
          <a:prstGeom prst="rect">
            <a:avLst/>
          </a:prstGeom>
          <a:noFill/>
          <a:ln/>
        </p:spPr>
        <p:txBody>
          <a:bodyPr wrap="square" lIns="0" tIns="0" rIns="0" bIns="0" rtlCol="0" anchor="ctr"/>
          <a:lstStyle/>
          <a:p>
            <a:pPr indent="0" marL="0">
              <a:buNone/>
            </a:pPr>
            <a:r>
              <a:rPr lang="en-US" sz="2400" b="1" dirty="0">
                <a:solidFill>
                  <a:srgbClr val="4B1D6E"/>
                </a:solidFill>
                <a:latin typeface="Calibri" pitchFamily="34" charset="0"/>
                <a:ea typeface="Calibri" pitchFamily="34" charset="-122"/>
                <a:cs typeface="Calibri" pitchFamily="34" charset="-120"/>
              </a:rPr>
              <a:t>Dataset Used</a:t>
            </a:r>
            <a:endParaRPr lang="en-US" sz="2400" dirty="0"/>
          </a:p>
        </p:txBody>
      </p:sp>
      <p:sp>
        <p:nvSpPr>
          <p:cNvPr id="4" name="Text 2"/>
          <p:cNvSpPr txBox="1"/>
          <p:nvPr/>
        </p:nvSpPr>
        <p:spPr>
          <a:xfrm>
            <a:off x="457200" y="777240"/>
            <a:ext cx="8229600" cy="32004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Six sheets: one user table, one master transaction table, and four service tables</a:t>
            </a:r>
            <a:endParaRPr lang="en-US" sz="1300" dirty="0"/>
          </a:p>
        </p:txBody>
      </p:sp>
      <p:sp>
        <p:nvSpPr>
          <p:cNvPr id="5" name="Text 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PhonePe Transaction Analysis  |  5</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011680"/>
                <a:gridCol w="1097280"/>
                <a:gridCol w="5120640"/>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Sheet</a:t>
                      </a:r>
                      <a:endParaRPr lang="en-US" sz="11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4B1D6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Rows</a:t>
                      </a:r>
                      <a:endParaRPr lang="en-US" sz="11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4B1D6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Key columns</a:t>
                      </a:r>
                      <a:endParaRPr lang="en-US" sz="11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4B1D6E"/>
                    </a:solidFill>
                  </a:tcPr>
                </a:tc>
              </a:tr>
              <a:tr h="365760">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All_Users</a:t>
                      </a:r>
                      <a:endParaRPr lang="en-US" sz="11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107,658</a:t>
                      </a:r>
                      <a:endParaRPr lang="en-US" sz="11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User_ID, Name, Age, Join_Date</a:t>
                      </a:r>
                      <a:endParaRPr lang="en-US" sz="11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All_Transactions</a:t>
                      </a:r>
                      <a:endParaRPr lang="en-US" sz="11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300,000</a:t>
                      </a:r>
                      <a:endParaRPr lang="en-US" sz="11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Transaction_ID, Amount, User_ID, Service, Service Type, Payment_Status, Reason, Date</a:t>
                      </a:r>
                      <a:endParaRPr lang="en-US" sz="11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r>
              <a:tr h="365760">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Money_Transfer</a:t>
                      </a:r>
                      <a:endParaRPr lang="en-US" sz="11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150,000</a:t>
                      </a:r>
                      <a:endParaRPr lang="en-US" sz="11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Transaction_ID, User_ID, Transfer_Type, Amount, Date, Payment_Status, Reason</a:t>
                      </a:r>
                      <a:endParaRPr lang="en-US" sz="11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Loans</a:t>
                      </a:r>
                      <a:endParaRPr lang="en-US" sz="11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50,000</a:t>
                      </a:r>
                      <a:endParaRPr lang="en-US" sz="11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Transaction_ID, User_ID, Loan_Type, Loan_Amount, Date, Payment_Status, Reason</a:t>
                      </a:r>
                      <a:endParaRPr lang="en-US" sz="11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r>
              <a:tr h="365760">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Insurance</a:t>
                      </a:r>
                      <a:endParaRPr lang="en-US" sz="11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50,000</a:t>
                      </a:r>
                      <a:endParaRPr lang="en-US" sz="11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Transaction_ID, User_ID, Insurance_Type, Premium, Date, Payment_Status, Reason</a:t>
                      </a:r>
                      <a:endParaRPr lang="en-US" sz="11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Recharge_Bills</a:t>
                      </a:r>
                      <a:endParaRPr lang="en-US" sz="11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50,000</a:t>
                      </a:r>
                      <a:endParaRPr lang="en-US" sz="11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Transaction_ID, User_ID, Recharge_Type, Amount, Date, Payment_Status, Reason</a:t>
                      </a:r>
                      <a:endParaRPr lang="en-US" sz="11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r>
            </a:tbl>
          </a:graphicData>
        </a:graphic>
      </p:graphicFrame>
      <p:sp>
        <p:nvSpPr>
          <p:cNvPr id="7" name="Text 4"/>
          <p:cNvSpPr txBox="1"/>
          <p:nvPr/>
        </p:nvSpPr>
        <p:spPr>
          <a:xfrm>
            <a:off x="457200" y="4206240"/>
            <a:ext cx="8229600" cy="457200"/>
          </a:xfrm>
          <a:prstGeom prst="rect">
            <a:avLst/>
          </a:prstGeom>
          <a:noFill/>
          <a:ln/>
        </p:spPr>
        <p:txBody>
          <a:bodyPr wrap="square" lIns="0" tIns="0" rIns="0" bIns="0" rtlCol="0" anchor="ctr"/>
          <a:lstStyle/>
          <a:p>
            <a:pPr indent="0" marL="0">
              <a:buNone/>
            </a:pPr>
            <a:r>
              <a:rPr lang="en-US" sz="1100" i="1" dirty="0">
                <a:solidFill>
                  <a:srgbClr val="6B6B6B"/>
                </a:solidFill>
                <a:latin typeface="Calibri" pitchFamily="34" charset="0"/>
                <a:ea typeface="Calibri" pitchFamily="34" charset="-122"/>
                <a:cs typeface="Calibri" pitchFamily="34" charset="-120"/>
              </a:rPr>
              <a:t>Period: 1 January to 30 December 2024.   Source: analyst-prepared Excel dataset. Not verified as official PhonePe data; treat as a sample for portfolio use.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4B1D6E"/>
          </a:solidFill>
          <a:ln w="12700">
            <a:solidFill>
              <a:srgbClr val="4B1D6E"/>
            </a:solidFill>
            <a:prstDash val="solid"/>
          </a:ln>
        </p:spPr>
      </p:sp>
      <p:sp>
        <p:nvSpPr>
          <p:cNvPr id="3" name="Text 1"/>
          <p:cNvSpPr txBox="1"/>
          <p:nvPr/>
        </p:nvSpPr>
        <p:spPr>
          <a:xfrm>
            <a:off x="457200" y="274320"/>
            <a:ext cx="8229600" cy="502920"/>
          </a:xfrm>
          <a:prstGeom prst="rect">
            <a:avLst/>
          </a:prstGeom>
          <a:noFill/>
          <a:ln/>
        </p:spPr>
        <p:txBody>
          <a:bodyPr wrap="square" lIns="0" tIns="0" rIns="0" bIns="0" rtlCol="0" anchor="ctr"/>
          <a:lstStyle/>
          <a:p>
            <a:pPr indent="0" marL="0">
              <a:buNone/>
            </a:pPr>
            <a:r>
              <a:rPr lang="en-US" sz="2400" b="1" dirty="0">
                <a:solidFill>
                  <a:srgbClr val="4B1D6E"/>
                </a:solidFill>
                <a:latin typeface="Calibri" pitchFamily="34" charset="0"/>
                <a:ea typeface="Calibri" pitchFamily="34" charset="-122"/>
                <a:cs typeface="Calibri" pitchFamily="34" charset="-120"/>
              </a:rPr>
              <a:t>Data Cleaning and Preparation</a:t>
            </a:r>
            <a:endParaRPr lang="en-US" sz="2400" dirty="0"/>
          </a:p>
        </p:txBody>
      </p:sp>
      <p:sp>
        <p:nvSpPr>
          <p:cNvPr id="4" name="Text 2"/>
          <p:cNvSpPr txBox="1"/>
          <p:nvPr/>
        </p:nvSpPr>
        <p:spPr>
          <a:xfrm>
            <a:off x="457200" y="777240"/>
            <a:ext cx="8229600" cy="32004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Steps followed in Excel before building the Power BI model</a:t>
            </a:r>
            <a:endParaRPr lang="en-US" sz="1300" dirty="0"/>
          </a:p>
        </p:txBody>
      </p:sp>
      <p:sp>
        <p:nvSpPr>
          <p:cNvPr id="5" name="Text 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PhonePe Transaction Analysis  |  6</a:t>
            </a:r>
            <a:endParaRPr lang="en-US" sz="900" dirty="0"/>
          </a:p>
        </p:txBody>
      </p:sp>
      <p:sp>
        <p:nvSpPr>
          <p:cNvPr id="6" name="Shape 4"/>
          <p:cNvSpPr/>
          <p:nvPr/>
        </p:nvSpPr>
        <p:spPr>
          <a:xfrm>
            <a:off x="457200" y="1371600"/>
            <a:ext cx="1554480" cy="685800"/>
          </a:xfrm>
          <a:prstGeom prst="rect">
            <a:avLst/>
          </a:prstGeom>
          <a:solidFill>
            <a:srgbClr val="4B1D6E"/>
          </a:solidFill>
          <a:ln w="12700">
            <a:solidFill>
              <a:srgbClr val="4B1D6E"/>
            </a:solidFill>
            <a:prstDash val="solid"/>
          </a:ln>
        </p:spPr>
      </p:sp>
      <p:sp>
        <p:nvSpPr>
          <p:cNvPr id="7" name="Text 5"/>
          <p:cNvSpPr txBox="1"/>
          <p:nvPr/>
        </p:nvSpPr>
        <p:spPr>
          <a:xfrm>
            <a:off x="530352" y="1371600"/>
            <a:ext cx="1408176"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 Import &amp; inspect</a:t>
            </a:r>
            <a:endParaRPr lang="en-US" sz="1200" dirty="0"/>
          </a:p>
        </p:txBody>
      </p:sp>
      <p:sp>
        <p:nvSpPr>
          <p:cNvPr id="8" name="Shape 6"/>
          <p:cNvSpPr/>
          <p:nvPr/>
        </p:nvSpPr>
        <p:spPr>
          <a:xfrm>
            <a:off x="457200" y="2148840"/>
            <a:ext cx="1554480" cy="2011680"/>
          </a:xfrm>
          <a:prstGeom prst="rect">
            <a:avLst/>
          </a:prstGeom>
          <a:solidFill>
            <a:srgbClr val="F6EEF9"/>
          </a:solidFill>
          <a:ln w="9525">
            <a:solidFill>
              <a:srgbClr val="D9C6E4"/>
            </a:solidFill>
            <a:prstDash val="solid"/>
          </a:ln>
        </p:spPr>
      </p:sp>
      <p:sp>
        <p:nvSpPr>
          <p:cNvPr id="9" name="Text 7"/>
          <p:cNvSpPr txBox="1"/>
          <p:nvPr/>
        </p:nvSpPr>
        <p:spPr>
          <a:xfrm>
            <a:off x="548640" y="2240280"/>
            <a:ext cx="1371600" cy="1828800"/>
          </a:xfrm>
          <a:prstGeom prst="rect">
            <a:avLst/>
          </a:prstGeom>
          <a:noFill/>
          <a:ln/>
        </p:spPr>
        <p:txBody>
          <a:bodyPr wrap="square" lIns="0" tIns="0" rIns="0" bIns="0" rtlCol="0" anchor="t"/>
          <a:lstStyle/>
          <a:p>
            <a:pPr indent="0" marL="0">
              <a:buNone/>
            </a:pPr>
            <a:r>
              <a:rPr lang="en-US" sz="1150" dirty="0">
                <a:solidFill>
                  <a:srgbClr val="2B2B2B"/>
                </a:solidFill>
                <a:latin typeface="Calibri" pitchFamily="34" charset="0"/>
                <a:ea typeface="Calibri" pitchFamily="34" charset="-122"/>
                <a:cs typeface="Calibri" pitchFamily="34" charset="-120"/>
              </a:rPr>
              <a:t>Opened all six sheets and reviewed columns, data types and row counts.</a:t>
            </a:r>
            <a:endParaRPr lang="en-US" sz="1150" dirty="0"/>
          </a:p>
        </p:txBody>
      </p:sp>
      <p:sp>
        <p:nvSpPr>
          <p:cNvPr id="10" name="Shape 8"/>
          <p:cNvSpPr/>
          <p:nvPr/>
        </p:nvSpPr>
        <p:spPr>
          <a:xfrm>
            <a:off x="2139696" y="1371600"/>
            <a:ext cx="1554480" cy="685800"/>
          </a:xfrm>
          <a:prstGeom prst="rect">
            <a:avLst/>
          </a:prstGeom>
          <a:solidFill>
            <a:srgbClr val="4B1D6E"/>
          </a:solidFill>
          <a:ln w="12700">
            <a:solidFill>
              <a:srgbClr val="4B1D6E"/>
            </a:solidFill>
            <a:prstDash val="solid"/>
          </a:ln>
        </p:spPr>
      </p:sp>
      <p:sp>
        <p:nvSpPr>
          <p:cNvPr id="11" name="Text 9"/>
          <p:cNvSpPr txBox="1"/>
          <p:nvPr/>
        </p:nvSpPr>
        <p:spPr>
          <a:xfrm>
            <a:off x="2212848" y="1371600"/>
            <a:ext cx="1408176"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 Check missing values</a:t>
            </a:r>
            <a:endParaRPr lang="en-US" sz="1200" dirty="0"/>
          </a:p>
        </p:txBody>
      </p:sp>
      <p:sp>
        <p:nvSpPr>
          <p:cNvPr id="12" name="Shape 10"/>
          <p:cNvSpPr/>
          <p:nvPr/>
        </p:nvSpPr>
        <p:spPr>
          <a:xfrm>
            <a:off x="2139696" y="2148840"/>
            <a:ext cx="1554480" cy="2011680"/>
          </a:xfrm>
          <a:prstGeom prst="rect">
            <a:avLst/>
          </a:prstGeom>
          <a:solidFill>
            <a:srgbClr val="F6EEF9"/>
          </a:solidFill>
          <a:ln w="9525">
            <a:solidFill>
              <a:srgbClr val="D9C6E4"/>
            </a:solidFill>
            <a:prstDash val="solid"/>
          </a:ln>
        </p:spPr>
      </p:sp>
      <p:sp>
        <p:nvSpPr>
          <p:cNvPr id="13" name="Text 11"/>
          <p:cNvSpPr txBox="1"/>
          <p:nvPr/>
        </p:nvSpPr>
        <p:spPr>
          <a:xfrm>
            <a:off x="2231136" y="2240280"/>
            <a:ext cx="1371600" cy="1828800"/>
          </a:xfrm>
          <a:prstGeom prst="rect">
            <a:avLst/>
          </a:prstGeom>
          <a:noFill/>
          <a:ln/>
        </p:spPr>
        <p:txBody>
          <a:bodyPr wrap="square" lIns="0" tIns="0" rIns="0" bIns="0" rtlCol="0" anchor="t"/>
          <a:lstStyle/>
          <a:p>
            <a:pPr indent="0" marL="0">
              <a:buNone/>
            </a:pPr>
            <a:r>
              <a:rPr lang="en-US" sz="1150" dirty="0">
                <a:solidFill>
                  <a:srgbClr val="2B2B2B"/>
                </a:solidFill>
                <a:latin typeface="Calibri" pitchFamily="34" charset="0"/>
                <a:ea typeface="Calibri" pitchFamily="34" charset="-122"/>
                <a:cs typeface="Calibri" pitchFamily="34" charset="-120"/>
              </a:rPr>
              <a:t>Checked every column for blank or null values.</a:t>
            </a:r>
            <a:endParaRPr lang="en-US" sz="1150" dirty="0"/>
          </a:p>
        </p:txBody>
      </p:sp>
      <p:sp>
        <p:nvSpPr>
          <p:cNvPr id="14" name="Shape 12"/>
          <p:cNvSpPr/>
          <p:nvPr/>
        </p:nvSpPr>
        <p:spPr>
          <a:xfrm>
            <a:off x="3822192" y="1371600"/>
            <a:ext cx="1554480" cy="685800"/>
          </a:xfrm>
          <a:prstGeom prst="rect">
            <a:avLst/>
          </a:prstGeom>
          <a:solidFill>
            <a:srgbClr val="4B1D6E"/>
          </a:solidFill>
          <a:ln w="12700">
            <a:solidFill>
              <a:srgbClr val="4B1D6E"/>
            </a:solidFill>
            <a:prstDash val="solid"/>
          </a:ln>
        </p:spPr>
      </p:sp>
      <p:sp>
        <p:nvSpPr>
          <p:cNvPr id="15" name="Text 13"/>
          <p:cNvSpPr txBox="1"/>
          <p:nvPr/>
        </p:nvSpPr>
        <p:spPr>
          <a:xfrm>
            <a:off x="3895344" y="1371600"/>
            <a:ext cx="1408176"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 Check duplicates</a:t>
            </a:r>
            <a:endParaRPr lang="en-US" sz="1200" dirty="0"/>
          </a:p>
        </p:txBody>
      </p:sp>
      <p:sp>
        <p:nvSpPr>
          <p:cNvPr id="16" name="Shape 14"/>
          <p:cNvSpPr/>
          <p:nvPr/>
        </p:nvSpPr>
        <p:spPr>
          <a:xfrm>
            <a:off x="3822192" y="2148840"/>
            <a:ext cx="1554480" cy="2011680"/>
          </a:xfrm>
          <a:prstGeom prst="rect">
            <a:avLst/>
          </a:prstGeom>
          <a:solidFill>
            <a:srgbClr val="F6EEF9"/>
          </a:solidFill>
          <a:ln w="9525">
            <a:solidFill>
              <a:srgbClr val="D9C6E4"/>
            </a:solidFill>
            <a:prstDash val="solid"/>
          </a:ln>
        </p:spPr>
      </p:sp>
      <p:sp>
        <p:nvSpPr>
          <p:cNvPr id="17" name="Text 15"/>
          <p:cNvSpPr txBox="1"/>
          <p:nvPr/>
        </p:nvSpPr>
        <p:spPr>
          <a:xfrm>
            <a:off x="3913632" y="2240280"/>
            <a:ext cx="1371600" cy="1828800"/>
          </a:xfrm>
          <a:prstGeom prst="rect">
            <a:avLst/>
          </a:prstGeom>
          <a:noFill/>
          <a:ln/>
        </p:spPr>
        <p:txBody>
          <a:bodyPr wrap="square" lIns="0" tIns="0" rIns="0" bIns="0" rtlCol="0" anchor="t"/>
          <a:lstStyle/>
          <a:p>
            <a:pPr indent="0" marL="0">
              <a:buNone/>
            </a:pPr>
            <a:r>
              <a:rPr lang="en-US" sz="1150" dirty="0">
                <a:solidFill>
                  <a:srgbClr val="2B2B2B"/>
                </a:solidFill>
                <a:latin typeface="Calibri" pitchFamily="34" charset="0"/>
                <a:ea typeface="Calibri" pitchFamily="34" charset="-122"/>
                <a:cs typeface="Calibri" pitchFamily="34" charset="-120"/>
              </a:rPr>
              <a:t>Checked for duplicate records across all sheets.</a:t>
            </a:r>
            <a:endParaRPr lang="en-US" sz="1150" dirty="0"/>
          </a:p>
        </p:txBody>
      </p:sp>
      <p:sp>
        <p:nvSpPr>
          <p:cNvPr id="18" name="Shape 16"/>
          <p:cNvSpPr/>
          <p:nvPr/>
        </p:nvSpPr>
        <p:spPr>
          <a:xfrm>
            <a:off x="5504688" y="1371600"/>
            <a:ext cx="1554480" cy="685800"/>
          </a:xfrm>
          <a:prstGeom prst="rect">
            <a:avLst/>
          </a:prstGeom>
          <a:solidFill>
            <a:srgbClr val="4B1D6E"/>
          </a:solidFill>
          <a:ln w="12700">
            <a:solidFill>
              <a:srgbClr val="4B1D6E"/>
            </a:solidFill>
            <a:prstDash val="solid"/>
          </a:ln>
        </p:spPr>
      </p:sp>
      <p:sp>
        <p:nvSpPr>
          <p:cNvPr id="19" name="Text 17"/>
          <p:cNvSpPr txBox="1"/>
          <p:nvPr/>
        </p:nvSpPr>
        <p:spPr>
          <a:xfrm>
            <a:off x="5577840" y="1371600"/>
            <a:ext cx="1408176"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 Validate keys</a:t>
            </a:r>
            <a:endParaRPr lang="en-US" sz="1200" dirty="0"/>
          </a:p>
        </p:txBody>
      </p:sp>
      <p:sp>
        <p:nvSpPr>
          <p:cNvPr id="20" name="Shape 18"/>
          <p:cNvSpPr/>
          <p:nvPr/>
        </p:nvSpPr>
        <p:spPr>
          <a:xfrm>
            <a:off x="5504688" y="2148840"/>
            <a:ext cx="1554480" cy="2011680"/>
          </a:xfrm>
          <a:prstGeom prst="rect">
            <a:avLst/>
          </a:prstGeom>
          <a:solidFill>
            <a:srgbClr val="F6EEF9"/>
          </a:solidFill>
          <a:ln w="9525">
            <a:solidFill>
              <a:srgbClr val="D9C6E4"/>
            </a:solidFill>
            <a:prstDash val="solid"/>
          </a:ln>
        </p:spPr>
      </p:sp>
      <p:sp>
        <p:nvSpPr>
          <p:cNvPr id="21" name="Text 19"/>
          <p:cNvSpPr txBox="1"/>
          <p:nvPr/>
        </p:nvSpPr>
        <p:spPr>
          <a:xfrm>
            <a:off x="5596128" y="2240280"/>
            <a:ext cx="1371600" cy="1828800"/>
          </a:xfrm>
          <a:prstGeom prst="rect">
            <a:avLst/>
          </a:prstGeom>
          <a:noFill/>
          <a:ln/>
        </p:spPr>
        <p:txBody>
          <a:bodyPr wrap="square" lIns="0" tIns="0" rIns="0" bIns="0" rtlCol="0" anchor="t"/>
          <a:lstStyle/>
          <a:p>
            <a:pPr indent="0" marL="0">
              <a:buNone/>
            </a:pPr>
            <a:r>
              <a:rPr lang="en-US" sz="1150" dirty="0">
                <a:solidFill>
                  <a:srgbClr val="2B2B2B"/>
                </a:solidFill>
                <a:latin typeface="Calibri" pitchFamily="34" charset="0"/>
                <a:ea typeface="Calibri" pitchFamily="34" charset="-122"/>
                <a:cs typeface="Calibri" pitchFamily="34" charset="-120"/>
              </a:rPr>
              <a:t>Confirmed Transaction_ID is unique and links service sheets to the master table.</a:t>
            </a:r>
            <a:endParaRPr lang="en-US" sz="1150" dirty="0"/>
          </a:p>
        </p:txBody>
      </p:sp>
      <p:sp>
        <p:nvSpPr>
          <p:cNvPr id="22" name="Shape 20"/>
          <p:cNvSpPr/>
          <p:nvPr/>
        </p:nvSpPr>
        <p:spPr>
          <a:xfrm>
            <a:off x="7187184" y="1371600"/>
            <a:ext cx="1554480" cy="685800"/>
          </a:xfrm>
          <a:prstGeom prst="rect">
            <a:avLst/>
          </a:prstGeom>
          <a:solidFill>
            <a:srgbClr val="4B1D6E"/>
          </a:solidFill>
          <a:ln w="12700">
            <a:solidFill>
              <a:srgbClr val="4B1D6E"/>
            </a:solidFill>
            <a:prstDash val="solid"/>
          </a:ln>
        </p:spPr>
      </p:sp>
      <p:sp>
        <p:nvSpPr>
          <p:cNvPr id="23" name="Text 21"/>
          <p:cNvSpPr txBox="1"/>
          <p:nvPr/>
        </p:nvSpPr>
        <p:spPr>
          <a:xfrm>
            <a:off x="7260336" y="1371600"/>
            <a:ext cx="1408176" cy="6858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 Standardise fields</a:t>
            </a:r>
            <a:endParaRPr lang="en-US" sz="1200" dirty="0"/>
          </a:p>
        </p:txBody>
      </p:sp>
      <p:sp>
        <p:nvSpPr>
          <p:cNvPr id="24" name="Shape 22"/>
          <p:cNvSpPr/>
          <p:nvPr/>
        </p:nvSpPr>
        <p:spPr>
          <a:xfrm>
            <a:off x="7187184" y="2148840"/>
            <a:ext cx="1554480" cy="2011680"/>
          </a:xfrm>
          <a:prstGeom prst="rect">
            <a:avLst/>
          </a:prstGeom>
          <a:solidFill>
            <a:srgbClr val="F6EEF9"/>
          </a:solidFill>
          <a:ln w="9525">
            <a:solidFill>
              <a:srgbClr val="D9C6E4"/>
            </a:solidFill>
            <a:prstDash val="solid"/>
          </a:ln>
        </p:spPr>
      </p:sp>
      <p:sp>
        <p:nvSpPr>
          <p:cNvPr id="25" name="Text 23"/>
          <p:cNvSpPr txBox="1"/>
          <p:nvPr/>
        </p:nvSpPr>
        <p:spPr>
          <a:xfrm>
            <a:off x="7278624" y="2240280"/>
            <a:ext cx="1371600" cy="1828800"/>
          </a:xfrm>
          <a:prstGeom prst="rect">
            <a:avLst/>
          </a:prstGeom>
          <a:noFill/>
          <a:ln/>
        </p:spPr>
        <p:txBody>
          <a:bodyPr wrap="square" lIns="0" tIns="0" rIns="0" bIns="0" rtlCol="0" anchor="t"/>
          <a:lstStyle/>
          <a:p>
            <a:pPr indent="0" marL="0">
              <a:buNone/>
            </a:pPr>
            <a:r>
              <a:rPr lang="en-US" sz="1150" dirty="0">
                <a:solidFill>
                  <a:srgbClr val="2B2B2B"/>
                </a:solidFill>
                <a:latin typeface="Calibri" pitchFamily="34" charset="0"/>
                <a:ea typeface="Calibri" pitchFamily="34" charset="-122"/>
                <a:cs typeface="Calibri" pitchFamily="34" charset="-120"/>
              </a:rPr>
              <a:t>Set date fields as true dates and amounts as numeric values for analysis.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4B1D6E"/>
          </a:solidFill>
          <a:ln w="12700">
            <a:solidFill>
              <a:srgbClr val="4B1D6E"/>
            </a:solidFill>
            <a:prstDash val="solid"/>
          </a:ln>
        </p:spPr>
      </p:sp>
      <p:sp>
        <p:nvSpPr>
          <p:cNvPr id="3" name="Text 1"/>
          <p:cNvSpPr txBox="1"/>
          <p:nvPr/>
        </p:nvSpPr>
        <p:spPr>
          <a:xfrm>
            <a:off x="457200" y="274320"/>
            <a:ext cx="8229600" cy="502920"/>
          </a:xfrm>
          <a:prstGeom prst="rect">
            <a:avLst/>
          </a:prstGeom>
          <a:noFill/>
          <a:ln/>
        </p:spPr>
        <p:txBody>
          <a:bodyPr wrap="square" lIns="0" tIns="0" rIns="0" bIns="0" rtlCol="0" anchor="ctr"/>
          <a:lstStyle/>
          <a:p>
            <a:pPr indent="0" marL="0">
              <a:buNone/>
            </a:pPr>
            <a:r>
              <a:rPr lang="en-US" sz="2400" b="1" dirty="0">
                <a:solidFill>
                  <a:srgbClr val="4B1D6E"/>
                </a:solidFill>
                <a:latin typeface="Calibri" pitchFamily="34" charset="0"/>
                <a:ea typeface="Calibri" pitchFamily="34" charset="-122"/>
                <a:cs typeface="Calibri" pitchFamily="34" charset="-120"/>
              </a:rPr>
              <a:t>Data Quality Checks: Results</a:t>
            </a:r>
            <a:endParaRPr lang="en-US" sz="2400" dirty="0"/>
          </a:p>
        </p:txBody>
      </p:sp>
      <p:sp>
        <p:nvSpPr>
          <p:cNvPr id="4" name="Text 2"/>
          <p:cNvSpPr txBox="1"/>
          <p:nvPr/>
        </p:nvSpPr>
        <p:spPr>
          <a:xfrm>
            <a:off x="457200" y="777240"/>
            <a:ext cx="8229600" cy="32004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Checks performed on the dataset during cleaning</a:t>
            </a:r>
            <a:endParaRPr lang="en-US" sz="1300" dirty="0"/>
          </a:p>
        </p:txBody>
      </p:sp>
      <p:sp>
        <p:nvSpPr>
          <p:cNvPr id="5" name="Text 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PhonePe Transaction Analysis  |  7</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5120640"/>
                <a:gridCol w="3108960"/>
              </a:tblGrid>
              <a:tr h="4114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Check</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4B1D6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4B1D6E"/>
                    </a:solidFill>
                  </a:tcPr>
                </a:tc>
              </a:tr>
              <a:tr h="41148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Missing values (all six sheets)</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None found</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Duplicate records (all six sheets)</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None found</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r>
              <a:tr h="41148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Transaction_ID uniqueness (All_Transactions)</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Unique</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Service-sheet Transaction_IDs found in All_Transactions</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All matched</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r>
              <a:tr h="41148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Date fields</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Stored as dates; range 1 Jan to 30 Dec 2024</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Users table</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107,658 users; no missing values</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4B1D6E"/>
          </a:solidFill>
          <a:ln w="12700">
            <a:solidFill>
              <a:srgbClr val="4B1D6E"/>
            </a:solidFill>
            <a:prstDash val="solid"/>
          </a:ln>
        </p:spPr>
      </p:sp>
      <p:sp>
        <p:nvSpPr>
          <p:cNvPr id="3" name="Text 1"/>
          <p:cNvSpPr txBox="1"/>
          <p:nvPr/>
        </p:nvSpPr>
        <p:spPr>
          <a:xfrm>
            <a:off x="457200" y="274320"/>
            <a:ext cx="8229600" cy="502920"/>
          </a:xfrm>
          <a:prstGeom prst="rect">
            <a:avLst/>
          </a:prstGeom>
          <a:noFill/>
          <a:ln/>
        </p:spPr>
        <p:txBody>
          <a:bodyPr wrap="square" lIns="0" tIns="0" rIns="0" bIns="0" rtlCol="0" anchor="ctr"/>
          <a:lstStyle/>
          <a:p>
            <a:pPr indent="0" marL="0">
              <a:buNone/>
            </a:pPr>
            <a:r>
              <a:rPr lang="en-US" sz="2400" b="1" dirty="0">
                <a:solidFill>
                  <a:srgbClr val="4B1D6E"/>
                </a:solidFill>
                <a:latin typeface="Calibri" pitchFamily="34" charset="0"/>
                <a:ea typeface="Calibri" pitchFamily="34" charset="-122"/>
                <a:cs typeface="Calibri" pitchFamily="34" charset="-120"/>
              </a:rPr>
              <a:t>Tools and Technologies</a:t>
            </a:r>
            <a:endParaRPr lang="en-US" sz="2400" dirty="0"/>
          </a:p>
        </p:txBody>
      </p:sp>
      <p:sp>
        <p:nvSpPr>
          <p:cNvPr id="4" name="Text 2"/>
          <p:cNvSpPr txBox="1"/>
          <p:nvPr/>
        </p:nvSpPr>
        <p:spPr>
          <a:xfrm>
            <a:off x="457200" y="777240"/>
            <a:ext cx="8229600" cy="32004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How each tool contributed to the project</a:t>
            </a:r>
            <a:endParaRPr lang="en-US" sz="1300" dirty="0"/>
          </a:p>
        </p:txBody>
      </p:sp>
      <p:sp>
        <p:nvSpPr>
          <p:cNvPr id="5" name="Text 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PhonePe Transaction Analysis  |  8</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743200"/>
                <a:gridCol w="5486400"/>
              </a:tblGrid>
              <a:tr h="4114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Tool</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4B1D6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Role in the project</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4B1D6E"/>
                    </a:solidFill>
                  </a:tcPr>
                </a:tc>
              </a:tr>
              <a:tr h="41148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Microsoft Excel</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Data inspection, cleaning and preprocessing</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Power Query</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Data transformation before modelling</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r>
              <a:tr h="41148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Power BI Desktop</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Data modelling and dashboard design</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DAX</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Calculated measures for KPIs</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r>
              <a:tr h="411480">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Slicers, cards, charts</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Interactive filters, KPI cards, and visual analysis</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4B1D6E"/>
          </a:solidFill>
          <a:ln w="12700">
            <a:solidFill>
              <a:srgbClr val="4B1D6E"/>
            </a:solidFill>
            <a:prstDash val="solid"/>
          </a:ln>
        </p:spPr>
      </p:sp>
      <p:sp>
        <p:nvSpPr>
          <p:cNvPr id="3" name="Text 1"/>
          <p:cNvSpPr txBox="1"/>
          <p:nvPr/>
        </p:nvSpPr>
        <p:spPr>
          <a:xfrm>
            <a:off x="457200" y="274320"/>
            <a:ext cx="8229600" cy="502920"/>
          </a:xfrm>
          <a:prstGeom prst="rect">
            <a:avLst/>
          </a:prstGeom>
          <a:noFill/>
          <a:ln/>
        </p:spPr>
        <p:txBody>
          <a:bodyPr wrap="square" lIns="0" tIns="0" rIns="0" bIns="0" rtlCol="0" anchor="ctr"/>
          <a:lstStyle/>
          <a:p>
            <a:pPr indent="0" marL="0">
              <a:buNone/>
            </a:pPr>
            <a:r>
              <a:rPr lang="en-US" sz="2400" b="1" dirty="0">
                <a:solidFill>
                  <a:srgbClr val="4B1D6E"/>
                </a:solidFill>
                <a:latin typeface="Calibri" pitchFamily="34" charset="0"/>
                <a:ea typeface="Calibri" pitchFamily="34" charset="-122"/>
                <a:cs typeface="Calibri" pitchFamily="34" charset="-120"/>
              </a:rPr>
              <a:t>Methodology</a:t>
            </a:r>
            <a:endParaRPr lang="en-US" sz="2400" dirty="0"/>
          </a:p>
        </p:txBody>
      </p:sp>
      <p:sp>
        <p:nvSpPr>
          <p:cNvPr id="4" name="Text 2"/>
          <p:cNvSpPr txBox="1"/>
          <p:nvPr/>
        </p:nvSpPr>
        <p:spPr>
          <a:xfrm>
            <a:off x="457200" y="777240"/>
            <a:ext cx="8229600" cy="32004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Project workflow from problem to recommendation</a:t>
            </a:r>
            <a:endParaRPr lang="en-US" sz="1300" dirty="0"/>
          </a:p>
        </p:txBody>
      </p:sp>
      <p:sp>
        <p:nvSpPr>
          <p:cNvPr id="5" name="Text 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PhonePe Transaction Analysis  |  9</a:t>
            </a:r>
            <a:endParaRPr lang="en-US" sz="900" dirty="0"/>
          </a:p>
        </p:txBody>
      </p:sp>
      <p:sp>
        <p:nvSpPr>
          <p:cNvPr id="6" name="Shape 4"/>
          <p:cNvSpPr/>
          <p:nvPr/>
        </p:nvSpPr>
        <p:spPr>
          <a:xfrm>
            <a:off x="457200" y="1371600"/>
            <a:ext cx="502920" cy="502920"/>
          </a:xfrm>
          <a:prstGeom prst="ellipse">
            <a:avLst/>
          </a:prstGeom>
          <a:solidFill>
            <a:srgbClr val="A23B82"/>
          </a:solidFill>
          <a:ln w="12700">
            <a:solidFill>
              <a:srgbClr val="A23B82"/>
            </a:solidFill>
            <a:prstDash val="solid"/>
          </a:ln>
        </p:spPr>
      </p:sp>
      <p:sp>
        <p:nvSpPr>
          <p:cNvPr id="7" name="Text 5"/>
          <p:cNvSpPr txBox="1"/>
          <p:nvPr/>
        </p:nvSpPr>
        <p:spPr>
          <a:xfrm>
            <a:off x="457200" y="1371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1097280" y="1371600"/>
            <a:ext cx="2011680" cy="502920"/>
          </a:xfrm>
          <a:prstGeom prst="rect">
            <a:avLst/>
          </a:prstGeom>
          <a:noFill/>
          <a:ln/>
        </p:spPr>
        <p:txBody>
          <a:bodyPr wrap="square" lIns="0" tIns="0" rIns="0" bIns="0" rtlCol="0" anchor="ctr"/>
          <a:lstStyle/>
          <a:p>
            <a:pPr indent="0" marL="0">
              <a:buNone/>
            </a:pPr>
            <a:r>
              <a:rPr lang="en-US" sz="1400" b="1" dirty="0">
                <a:solidFill>
                  <a:srgbClr val="4B1D6E"/>
                </a:solidFill>
                <a:latin typeface="Calibri" pitchFamily="34" charset="0"/>
                <a:ea typeface="Calibri" pitchFamily="34" charset="-122"/>
                <a:cs typeface="Calibri" pitchFamily="34" charset="-120"/>
              </a:rPr>
              <a:t>Understand the problem</a:t>
            </a:r>
            <a:endParaRPr lang="en-US" sz="1400" dirty="0"/>
          </a:p>
        </p:txBody>
      </p:sp>
      <p:sp>
        <p:nvSpPr>
          <p:cNvPr id="9" name="Shape 7"/>
          <p:cNvSpPr/>
          <p:nvPr/>
        </p:nvSpPr>
        <p:spPr>
          <a:xfrm>
            <a:off x="3246120" y="1371600"/>
            <a:ext cx="502920" cy="502920"/>
          </a:xfrm>
          <a:prstGeom prst="ellipse">
            <a:avLst/>
          </a:prstGeom>
          <a:solidFill>
            <a:srgbClr val="A23B82"/>
          </a:solidFill>
          <a:ln w="12700">
            <a:solidFill>
              <a:srgbClr val="A23B82"/>
            </a:solidFill>
            <a:prstDash val="solid"/>
          </a:ln>
        </p:spPr>
      </p:sp>
      <p:sp>
        <p:nvSpPr>
          <p:cNvPr id="10" name="Text 8"/>
          <p:cNvSpPr txBox="1"/>
          <p:nvPr/>
        </p:nvSpPr>
        <p:spPr>
          <a:xfrm>
            <a:off x="3246120" y="1371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txBox="1"/>
          <p:nvPr/>
        </p:nvSpPr>
        <p:spPr>
          <a:xfrm>
            <a:off x="3886200" y="1371600"/>
            <a:ext cx="2011680" cy="502920"/>
          </a:xfrm>
          <a:prstGeom prst="rect">
            <a:avLst/>
          </a:prstGeom>
          <a:noFill/>
          <a:ln/>
        </p:spPr>
        <p:txBody>
          <a:bodyPr wrap="square" lIns="0" tIns="0" rIns="0" bIns="0" rtlCol="0" anchor="ctr"/>
          <a:lstStyle/>
          <a:p>
            <a:pPr indent="0" marL="0">
              <a:buNone/>
            </a:pPr>
            <a:r>
              <a:rPr lang="en-US" sz="1400" b="1" dirty="0">
                <a:solidFill>
                  <a:srgbClr val="4B1D6E"/>
                </a:solidFill>
                <a:latin typeface="Calibri" pitchFamily="34" charset="0"/>
                <a:ea typeface="Calibri" pitchFamily="34" charset="-122"/>
                <a:cs typeface="Calibri" pitchFamily="34" charset="-120"/>
              </a:rPr>
              <a:t>Explore the dataset</a:t>
            </a:r>
            <a:endParaRPr lang="en-US" sz="1400" dirty="0"/>
          </a:p>
        </p:txBody>
      </p:sp>
      <p:sp>
        <p:nvSpPr>
          <p:cNvPr id="12" name="Shape 10"/>
          <p:cNvSpPr/>
          <p:nvPr/>
        </p:nvSpPr>
        <p:spPr>
          <a:xfrm>
            <a:off x="6035040" y="1371600"/>
            <a:ext cx="502920" cy="502920"/>
          </a:xfrm>
          <a:prstGeom prst="ellipse">
            <a:avLst/>
          </a:prstGeom>
          <a:solidFill>
            <a:srgbClr val="A23B82"/>
          </a:solidFill>
          <a:ln w="12700">
            <a:solidFill>
              <a:srgbClr val="A23B82"/>
            </a:solidFill>
            <a:prstDash val="solid"/>
          </a:ln>
        </p:spPr>
      </p:sp>
      <p:sp>
        <p:nvSpPr>
          <p:cNvPr id="13" name="Text 11"/>
          <p:cNvSpPr txBox="1"/>
          <p:nvPr/>
        </p:nvSpPr>
        <p:spPr>
          <a:xfrm>
            <a:off x="6035040" y="1371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6675120" y="1371600"/>
            <a:ext cx="2011680" cy="502920"/>
          </a:xfrm>
          <a:prstGeom prst="rect">
            <a:avLst/>
          </a:prstGeom>
          <a:noFill/>
          <a:ln/>
        </p:spPr>
        <p:txBody>
          <a:bodyPr wrap="square" lIns="0" tIns="0" rIns="0" bIns="0" rtlCol="0" anchor="ctr"/>
          <a:lstStyle/>
          <a:p>
            <a:pPr indent="0" marL="0">
              <a:buNone/>
            </a:pPr>
            <a:r>
              <a:rPr lang="en-US" sz="1400" b="1" dirty="0">
                <a:solidFill>
                  <a:srgbClr val="4B1D6E"/>
                </a:solidFill>
                <a:latin typeface="Calibri" pitchFamily="34" charset="0"/>
                <a:ea typeface="Calibri" pitchFamily="34" charset="-122"/>
                <a:cs typeface="Calibri" pitchFamily="34" charset="-120"/>
              </a:rPr>
              <a:t>Clean and prepare data</a:t>
            </a:r>
            <a:endParaRPr lang="en-US" sz="1400" dirty="0"/>
          </a:p>
        </p:txBody>
      </p:sp>
      <p:sp>
        <p:nvSpPr>
          <p:cNvPr id="15" name="Shape 13"/>
          <p:cNvSpPr/>
          <p:nvPr/>
        </p:nvSpPr>
        <p:spPr>
          <a:xfrm>
            <a:off x="457200" y="2926080"/>
            <a:ext cx="502920" cy="502920"/>
          </a:xfrm>
          <a:prstGeom prst="ellipse">
            <a:avLst/>
          </a:prstGeom>
          <a:solidFill>
            <a:srgbClr val="A23B82"/>
          </a:solidFill>
          <a:ln w="12700">
            <a:solidFill>
              <a:srgbClr val="A23B82"/>
            </a:solidFill>
            <a:prstDash val="solid"/>
          </a:ln>
        </p:spPr>
      </p:sp>
      <p:sp>
        <p:nvSpPr>
          <p:cNvPr id="16" name="Text 14"/>
          <p:cNvSpPr txBox="1"/>
          <p:nvPr/>
        </p:nvSpPr>
        <p:spPr>
          <a:xfrm>
            <a:off x="457200" y="29260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7" name="Text 15"/>
          <p:cNvSpPr txBox="1"/>
          <p:nvPr/>
        </p:nvSpPr>
        <p:spPr>
          <a:xfrm>
            <a:off x="1097280" y="2926080"/>
            <a:ext cx="2011680" cy="502920"/>
          </a:xfrm>
          <a:prstGeom prst="rect">
            <a:avLst/>
          </a:prstGeom>
          <a:noFill/>
          <a:ln/>
        </p:spPr>
        <p:txBody>
          <a:bodyPr wrap="square" lIns="0" tIns="0" rIns="0" bIns="0" rtlCol="0" anchor="ctr"/>
          <a:lstStyle/>
          <a:p>
            <a:pPr indent="0" marL="0">
              <a:buNone/>
            </a:pPr>
            <a:r>
              <a:rPr lang="en-US" sz="1400" b="1" dirty="0">
                <a:solidFill>
                  <a:srgbClr val="4B1D6E"/>
                </a:solidFill>
                <a:latin typeface="Calibri" pitchFamily="34" charset="0"/>
                <a:ea typeface="Calibri" pitchFamily="34" charset="-122"/>
                <a:cs typeface="Calibri" pitchFamily="34" charset="-120"/>
              </a:rPr>
              <a:t>Model data and build KPIs</a:t>
            </a:r>
            <a:endParaRPr lang="en-US" sz="1400" dirty="0"/>
          </a:p>
        </p:txBody>
      </p:sp>
      <p:sp>
        <p:nvSpPr>
          <p:cNvPr id="18" name="Shape 16"/>
          <p:cNvSpPr/>
          <p:nvPr/>
        </p:nvSpPr>
        <p:spPr>
          <a:xfrm>
            <a:off x="3246120" y="2926080"/>
            <a:ext cx="502920" cy="502920"/>
          </a:xfrm>
          <a:prstGeom prst="ellipse">
            <a:avLst/>
          </a:prstGeom>
          <a:solidFill>
            <a:srgbClr val="A23B82"/>
          </a:solidFill>
          <a:ln w="12700">
            <a:solidFill>
              <a:srgbClr val="A23B82"/>
            </a:solidFill>
            <a:prstDash val="solid"/>
          </a:ln>
        </p:spPr>
      </p:sp>
      <p:sp>
        <p:nvSpPr>
          <p:cNvPr id="19" name="Text 17"/>
          <p:cNvSpPr txBox="1"/>
          <p:nvPr/>
        </p:nvSpPr>
        <p:spPr>
          <a:xfrm>
            <a:off x="3246120" y="29260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0" name="Text 18"/>
          <p:cNvSpPr txBox="1"/>
          <p:nvPr/>
        </p:nvSpPr>
        <p:spPr>
          <a:xfrm>
            <a:off x="3886200" y="2926080"/>
            <a:ext cx="2011680" cy="502920"/>
          </a:xfrm>
          <a:prstGeom prst="rect">
            <a:avLst/>
          </a:prstGeom>
          <a:noFill/>
          <a:ln/>
        </p:spPr>
        <p:txBody>
          <a:bodyPr wrap="square" lIns="0" tIns="0" rIns="0" bIns="0" rtlCol="0" anchor="ctr"/>
          <a:lstStyle/>
          <a:p>
            <a:pPr indent="0" marL="0">
              <a:buNone/>
            </a:pPr>
            <a:r>
              <a:rPr lang="en-US" sz="1400" b="1" dirty="0">
                <a:solidFill>
                  <a:srgbClr val="4B1D6E"/>
                </a:solidFill>
                <a:latin typeface="Calibri" pitchFamily="34" charset="0"/>
                <a:ea typeface="Calibri" pitchFamily="34" charset="-122"/>
                <a:cs typeface="Calibri" pitchFamily="34" charset="-120"/>
              </a:rPr>
              <a:t>Design and build dashboard</a:t>
            </a:r>
            <a:endParaRPr lang="en-US" sz="1400" dirty="0"/>
          </a:p>
        </p:txBody>
      </p:sp>
      <p:sp>
        <p:nvSpPr>
          <p:cNvPr id="21" name="Shape 19"/>
          <p:cNvSpPr/>
          <p:nvPr/>
        </p:nvSpPr>
        <p:spPr>
          <a:xfrm>
            <a:off x="6035040" y="2926080"/>
            <a:ext cx="502920" cy="502920"/>
          </a:xfrm>
          <a:prstGeom prst="ellipse">
            <a:avLst/>
          </a:prstGeom>
          <a:solidFill>
            <a:srgbClr val="A23B82"/>
          </a:solidFill>
          <a:ln w="12700">
            <a:solidFill>
              <a:srgbClr val="A23B82"/>
            </a:solidFill>
            <a:prstDash val="solid"/>
          </a:ln>
        </p:spPr>
      </p:sp>
      <p:sp>
        <p:nvSpPr>
          <p:cNvPr id="22" name="Text 20"/>
          <p:cNvSpPr txBox="1"/>
          <p:nvPr/>
        </p:nvSpPr>
        <p:spPr>
          <a:xfrm>
            <a:off x="6035040" y="29260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23" name="Text 21"/>
          <p:cNvSpPr txBox="1"/>
          <p:nvPr/>
        </p:nvSpPr>
        <p:spPr>
          <a:xfrm>
            <a:off x="6675120" y="2926080"/>
            <a:ext cx="2011680" cy="502920"/>
          </a:xfrm>
          <a:prstGeom prst="rect">
            <a:avLst/>
          </a:prstGeom>
          <a:noFill/>
          <a:ln/>
        </p:spPr>
        <p:txBody>
          <a:bodyPr wrap="square" lIns="0" tIns="0" rIns="0" bIns="0" rtlCol="0" anchor="ctr"/>
          <a:lstStyle/>
          <a:p>
            <a:pPr indent="0" marL="0">
              <a:buNone/>
            </a:pPr>
            <a:r>
              <a:rPr lang="en-US" sz="1400" b="1" dirty="0">
                <a:solidFill>
                  <a:srgbClr val="4B1D6E"/>
                </a:solidFill>
                <a:latin typeface="Calibri" pitchFamily="34" charset="0"/>
                <a:ea typeface="Calibri" pitchFamily="34" charset="-122"/>
                <a:cs typeface="Calibri" pitchFamily="34" charset="-120"/>
              </a:rPr>
              <a:t>Interpret and recommend</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4B1D6E"/>
          </a:solidFill>
          <a:ln w="12700">
            <a:solidFill>
              <a:srgbClr val="4B1D6E"/>
            </a:solidFill>
            <a:prstDash val="solid"/>
          </a:ln>
        </p:spPr>
      </p:sp>
      <p:sp>
        <p:nvSpPr>
          <p:cNvPr id="3" name="Text 1"/>
          <p:cNvSpPr txBox="1"/>
          <p:nvPr/>
        </p:nvSpPr>
        <p:spPr>
          <a:xfrm>
            <a:off x="457200" y="274320"/>
            <a:ext cx="8229600" cy="502920"/>
          </a:xfrm>
          <a:prstGeom prst="rect">
            <a:avLst/>
          </a:prstGeom>
          <a:noFill/>
          <a:ln/>
        </p:spPr>
        <p:txBody>
          <a:bodyPr wrap="square" lIns="0" tIns="0" rIns="0" bIns="0" rtlCol="0" anchor="ctr"/>
          <a:lstStyle/>
          <a:p>
            <a:pPr indent="0" marL="0">
              <a:buNone/>
            </a:pPr>
            <a:r>
              <a:rPr lang="en-US" sz="2400" b="1" dirty="0">
                <a:solidFill>
                  <a:srgbClr val="4B1D6E"/>
                </a:solidFill>
                <a:latin typeface="Calibri" pitchFamily="34" charset="0"/>
                <a:ea typeface="Calibri" pitchFamily="34" charset="-122"/>
                <a:cs typeface="Calibri" pitchFamily="34" charset="-120"/>
              </a:rPr>
              <a:t>Solution: Interactive Power BI Dashboard</a:t>
            </a:r>
            <a:endParaRPr lang="en-US" sz="2400" dirty="0"/>
          </a:p>
        </p:txBody>
      </p:sp>
      <p:sp>
        <p:nvSpPr>
          <p:cNvPr id="4" name="Text 2"/>
          <p:cNvSpPr txBox="1"/>
          <p:nvPr/>
        </p:nvSpPr>
        <p:spPr>
          <a:xfrm>
            <a:off x="457200" y="777240"/>
            <a:ext cx="8229600" cy="32004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Five pages, with a left navigation panel and a date range slicer</a:t>
            </a:r>
            <a:endParaRPr lang="en-US" sz="1300" dirty="0"/>
          </a:p>
        </p:txBody>
      </p:sp>
      <p:sp>
        <p:nvSpPr>
          <p:cNvPr id="5" name="Text 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PhonePe Transaction Analysis  |  10</a:t>
            </a:r>
            <a:endParaRPr lang="en-US" sz="900" dirty="0"/>
          </a:p>
        </p:txBody>
      </p:sp>
      <p:sp>
        <p:nvSpPr>
          <p:cNvPr id="6" name="Shape 4"/>
          <p:cNvSpPr/>
          <p:nvPr/>
        </p:nvSpPr>
        <p:spPr>
          <a:xfrm>
            <a:off x="457200" y="1280160"/>
            <a:ext cx="2651760" cy="1554480"/>
          </a:xfrm>
          <a:prstGeom prst="rect">
            <a:avLst/>
          </a:prstGeom>
          <a:solidFill>
            <a:srgbClr val="F6EEF9"/>
          </a:solidFill>
          <a:ln w="9525">
            <a:solidFill>
              <a:srgbClr val="D9C6E4"/>
            </a:solidFill>
            <a:prstDash val="solid"/>
          </a:ln>
        </p:spPr>
      </p:sp>
      <p:sp>
        <p:nvSpPr>
          <p:cNvPr id="7" name="Shape 5"/>
          <p:cNvSpPr/>
          <p:nvPr/>
        </p:nvSpPr>
        <p:spPr>
          <a:xfrm>
            <a:off x="457200" y="1280160"/>
            <a:ext cx="64008" cy="1554480"/>
          </a:xfrm>
          <a:prstGeom prst="rect">
            <a:avLst/>
          </a:prstGeom>
          <a:solidFill>
            <a:srgbClr val="A23B82"/>
          </a:solidFill>
          <a:ln w="12700">
            <a:solidFill>
              <a:srgbClr val="A23B82"/>
            </a:solidFill>
            <a:prstDash val="solid"/>
          </a:ln>
        </p:spPr>
      </p:sp>
      <p:sp>
        <p:nvSpPr>
          <p:cNvPr id="8" name="Text 6"/>
          <p:cNvSpPr txBox="1"/>
          <p:nvPr/>
        </p:nvSpPr>
        <p:spPr>
          <a:xfrm>
            <a:off x="640080" y="1353312"/>
            <a:ext cx="2377440" cy="320040"/>
          </a:xfrm>
          <a:prstGeom prst="rect">
            <a:avLst/>
          </a:prstGeom>
          <a:noFill/>
          <a:ln/>
        </p:spPr>
        <p:txBody>
          <a:bodyPr wrap="square" lIns="0" tIns="0" rIns="0" bIns="0" rtlCol="0" anchor="ctr"/>
          <a:lstStyle/>
          <a:p>
            <a:pPr indent="0" marL="0">
              <a:buNone/>
            </a:pPr>
            <a:r>
              <a:rPr lang="en-US" sz="1400" b="1" dirty="0">
                <a:solidFill>
                  <a:srgbClr val="4B1D6E"/>
                </a:solidFill>
                <a:latin typeface="Calibri" pitchFamily="34" charset="0"/>
                <a:ea typeface="Calibri" pitchFamily="34" charset="-122"/>
                <a:cs typeface="Calibri" pitchFamily="34" charset="-120"/>
              </a:rPr>
              <a:t>Overview</a:t>
            </a:r>
            <a:endParaRPr lang="en-US" sz="1400" dirty="0"/>
          </a:p>
        </p:txBody>
      </p:sp>
      <p:sp>
        <p:nvSpPr>
          <p:cNvPr id="9" name="Text 7"/>
          <p:cNvSpPr txBox="1"/>
          <p:nvPr/>
        </p:nvSpPr>
        <p:spPr>
          <a:xfrm>
            <a:off x="640080" y="1691640"/>
            <a:ext cx="2377440" cy="1051560"/>
          </a:xfrm>
          <a:prstGeom prst="rect">
            <a:avLst/>
          </a:prstGeom>
          <a:noFill/>
          <a:ln/>
        </p:spPr>
        <p:txBody>
          <a:bodyPr wrap="square" lIns="0" tIns="0" rIns="0" bIns="0" rtlCol="0" anchor="t"/>
          <a:lstStyle/>
          <a:p>
            <a:pPr indent="0" marL="0">
              <a:buNone/>
            </a:pPr>
            <a:r>
              <a:rPr lang="en-US" sz="1150" dirty="0">
                <a:solidFill>
                  <a:srgbClr val="2B2B2B"/>
                </a:solidFill>
                <a:latin typeface="Calibri" pitchFamily="34" charset="0"/>
                <a:ea typeface="Calibri" pitchFamily="34" charset="-122"/>
                <a:cs typeface="Calibri" pitchFamily="34" charset="-120"/>
              </a:rPr>
              <a:t>Date range slicer, total amount, successful and failed KPIs, failure reasons, and service value.</a:t>
            </a:r>
            <a:endParaRPr lang="en-US" sz="1150" dirty="0"/>
          </a:p>
        </p:txBody>
      </p:sp>
      <p:sp>
        <p:nvSpPr>
          <p:cNvPr id="10" name="Shape 8"/>
          <p:cNvSpPr/>
          <p:nvPr/>
        </p:nvSpPr>
        <p:spPr>
          <a:xfrm>
            <a:off x="3246120" y="1280160"/>
            <a:ext cx="2651760" cy="1554480"/>
          </a:xfrm>
          <a:prstGeom prst="rect">
            <a:avLst/>
          </a:prstGeom>
          <a:solidFill>
            <a:srgbClr val="F6EEF9"/>
          </a:solidFill>
          <a:ln w="9525">
            <a:solidFill>
              <a:srgbClr val="D9C6E4"/>
            </a:solidFill>
            <a:prstDash val="solid"/>
          </a:ln>
        </p:spPr>
      </p:sp>
      <p:sp>
        <p:nvSpPr>
          <p:cNvPr id="11" name="Shape 9"/>
          <p:cNvSpPr/>
          <p:nvPr/>
        </p:nvSpPr>
        <p:spPr>
          <a:xfrm>
            <a:off x="3246120" y="1280160"/>
            <a:ext cx="64008" cy="1554480"/>
          </a:xfrm>
          <a:prstGeom prst="rect">
            <a:avLst/>
          </a:prstGeom>
          <a:solidFill>
            <a:srgbClr val="A23B82"/>
          </a:solidFill>
          <a:ln w="12700">
            <a:solidFill>
              <a:srgbClr val="A23B82"/>
            </a:solidFill>
            <a:prstDash val="solid"/>
          </a:ln>
        </p:spPr>
      </p:sp>
      <p:sp>
        <p:nvSpPr>
          <p:cNvPr id="12" name="Text 10"/>
          <p:cNvSpPr txBox="1"/>
          <p:nvPr/>
        </p:nvSpPr>
        <p:spPr>
          <a:xfrm>
            <a:off x="3429000" y="1353312"/>
            <a:ext cx="2377440" cy="320040"/>
          </a:xfrm>
          <a:prstGeom prst="rect">
            <a:avLst/>
          </a:prstGeom>
          <a:noFill/>
          <a:ln/>
        </p:spPr>
        <p:txBody>
          <a:bodyPr wrap="square" lIns="0" tIns="0" rIns="0" bIns="0" rtlCol="0" anchor="ctr"/>
          <a:lstStyle/>
          <a:p>
            <a:pPr indent="0" marL="0">
              <a:buNone/>
            </a:pPr>
            <a:r>
              <a:rPr lang="en-US" sz="1400" b="1" dirty="0">
                <a:solidFill>
                  <a:srgbClr val="4B1D6E"/>
                </a:solidFill>
                <a:latin typeface="Calibri" pitchFamily="34" charset="0"/>
                <a:ea typeface="Calibri" pitchFamily="34" charset="-122"/>
                <a:cs typeface="Calibri" pitchFamily="34" charset="-120"/>
              </a:rPr>
              <a:t>Insurance</a:t>
            </a:r>
            <a:endParaRPr lang="en-US" sz="1400" dirty="0"/>
          </a:p>
        </p:txBody>
      </p:sp>
      <p:sp>
        <p:nvSpPr>
          <p:cNvPr id="13" name="Text 11"/>
          <p:cNvSpPr txBox="1"/>
          <p:nvPr/>
        </p:nvSpPr>
        <p:spPr>
          <a:xfrm>
            <a:off x="3429000" y="1691640"/>
            <a:ext cx="2377440" cy="1051560"/>
          </a:xfrm>
          <a:prstGeom prst="rect">
            <a:avLst/>
          </a:prstGeom>
          <a:noFill/>
          <a:ln/>
        </p:spPr>
        <p:txBody>
          <a:bodyPr wrap="square" lIns="0" tIns="0" rIns="0" bIns="0" rtlCol="0" anchor="t"/>
          <a:lstStyle/>
          <a:p>
            <a:pPr indent="0" marL="0">
              <a:buNone/>
            </a:pPr>
            <a:r>
              <a:rPr lang="en-US" sz="1150" dirty="0">
                <a:solidFill>
                  <a:srgbClr val="2B2B2B"/>
                </a:solidFill>
                <a:latin typeface="Calibri" pitchFamily="34" charset="0"/>
                <a:ea typeface="Calibri" pitchFamily="34" charset="-122"/>
                <a:cs typeface="Calibri" pitchFamily="34" charset="-120"/>
              </a:rPr>
              <a:t>Total premium, payment status, and premium by insurance type.</a:t>
            </a:r>
            <a:endParaRPr lang="en-US" sz="1150" dirty="0"/>
          </a:p>
        </p:txBody>
      </p:sp>
      <p:sp>
        <p:nvSpPr>
          <p:cNvPr id="14" name="Shape 12"/>
          <p:cNvSpPr/>
          <p:nvPr/>
        </p:nvSpPr>
        <p:spPr>
          <a:xfrm>
            <a:off x="6035040" y="1280160"/>
            <a:ext cx="2651760" cy="1554480"/>
          </a:xfrm>
          <a:prstGeom prst="rect">
            <a:avLst/>
          </a:prstGeom>
          <a:solidFill>
            <a:srgbClr val="F6EEF9"/>
          </a:solidFill>
          <a:ln w="9525">
            <a:solidFill>
              <a:srgbClr val="D9C6E4"/>
            </a:solidFill>
            <a:prstDash val="solid"/>
          </a:ln>
        </p:spPr>
      </p:sp>
      <p:sp>
        <p:nvSpPr>
          <p:cNvPr id="15" name="Shape 13"/>
          <p:cNvSpPr/>
          <p:nvPr/>
        </p:nvSpPr>
        <p:spPr>
          <a:xfrm>
            <a:off x="6035040" y="1280160"/>
            <a:ext cx="64008" cy="1554480"/>
          </a:xfrm>
          <a:prstGeom prst="rect">
            <a:avLst/>
          </a:prstGeom>
          <a:solidFill>
            <a:srgbClr val="A23B82"/>
          </a:solidFill>
          <a:ln w="12700">
            <a:solidFill>
              <a:srgbClr val="A23B82"/>
            </a:solidFill>
            <a:prstDash val="solid"/>
          </a:ln>
        </p:spPr>
      </p:sp>
      <p:sp>
        <p:nvSpPr>
          <p:cNvPr id="16" name="Text 14"/>
          <p:cNvSpPr txBox="1"/>
          <p:nvPr/>
        </p:nvSpPr>
        <p:spPr>
          <a:xfrm>
            <a:off x="6217920" y="1353312"/>
            <a:ext cx="2377440" cy="320040"/>
          </a:xfrm>
          <a:prstGeom prst="rect">
            <a:avLst/>
          </a:prstGeom>
          <a:noFill/>
          <a:ln/>
        </p:spPr>
        <p:txBody>
          <a:bodyPr wrap="square" lIns="0" tIns="0" rIns="0" bIns="0" rtlCol="0" anchor="ctr"/>
          <a:lstStyle/>
          <a:p>
            <a:pPr indent="0" marL="0">
              <a:buNone/>
            </a:pPr>
            <a:r>
              <a:rPr lang="en-US" sz="1400" b="1" dirty="0">
                <a:solidFill>
                  <a:srgbClr val="4B1D6E"/>
                </a:solidFill>
                <a:latin typeface="Calibri" pitchFamily="34" charset="0"/>
                <a:ea typeface="Calibri" pitchFamily="34" charset="-122"/>
                <a:cs typeface="Calibri" pitchFamily="34" charset="-120"/>
              </a:rPr>
              <a:t>Loans</a:t>
            </a:r>
            <a:endParaRPr lang="en-US" sz="1400" dirty="0"/>
          </a:p>
        </p:txBody>
      </p:sp>
      <p:sp>
        <p:nvSpPr>
          <p:cNvPr id="17" name="Text 15"/>
          <p:cNvSpPr txBox="1"/>
          <p:nvPr/>
        </p:nvSpPr>
        <p:spPr>
          <a:xfrm>
            <a:off x="6217920" y="1691640"/>
            <a:ext cx="2377440" cy="1051560"/>
          </a:xfrm>
          <a:prstGeom prst="rect">
            <a:avLst/>
          </a:prstGeom>
          <a:noFill/>
          <a:ln/>
        </p:spPr>
        <p:txBody>
          <a:bodyPr wrap="square" lIns="0" tIns="0" rIns="0" bIns="0" rtlCol="0" anchor="t"/>
          <a:lstStyle/>
          <a:p>
            <a:pPr indent="0" marL="0">
              <a:buNone/>
            </a:pPr>
            <a:r>
              <a:rPr lang="en-US" sz="1150" dirty="0">
                <a:solidFill>
                  <a:srgbClr val="2B2B2B"/>
                </a:solidFill>
                <a:latin typeface="Calibri" pitchFamily="34" charset="0"/>
                <a:ea typeface="Calibri" pitchFamily="34" charset="-122"/>
                <a:cs typeface="Calibri" pitchFamily="34" charset="-120"/>
              </a:rPr>
              <a:t>Total loan amount, payment status, and value by loan type.</a:t>
            </a:r>
            <a:endParaRPr lang="en-US" sz="1150" dirty="0"/>
          </a:p>
        </p:txBody>
      </p:sp>
      <p:sp>
        <p:nvSpPr>
          <p:cNvPr id="18" name="Shape 16"/>
          <p:cNvSpPr/>
          <p:nvPr/>
        </p:nvSpPr>
        <p:spPr>
          <a:xfrm>
            <a:off x="457200" y="3017520"/>
            <a:ext cx="4023360" cy="1554480"/>
          </a:xfrm>
          <a:prstGeom prst="rect">
            <a:avLst/>
          </a:prstGeom>
          <a:solidFill>
            <a:srgbClr val="F6EEF9"/>
          </a:solidFill>
          <a:ln w="9525">
            <a:solidFill>
              <a:srgbClr val="D9C6E4"/>
            </a:solidFill>
            <a:prstDash val="solid"/>
          </a:ln>
        </p:spPr>
      </p:sp>
      <p:sp>
        <p:nvSpPr>
          <p:cNvPr id="19" name="Shape 17"/>
          <p:cNvSpPr/>
          <p:nvPr/>
        </p:nvSpPr>
        <p:spPr>
          <a:xfrm>
            <a:off x="457200" y="3017520"/>
            <a:ext cx="64008" cy="1554480"/>
          </a:xfrm>
          <a:prstGeom prst="rect">
            <a:avLst/>
          </a:prstGeom>
          <a:solidFill>
            <a:srgbClr val="A23B82"/>
          </a:solidFill>
          <a:ln w="12700">
            <a:solidFill>
              <a:srgbClr val="A23B82"/>
            </a:solidFill>
            <a:prstDash val="solid"/>
          </a:ln>
        </p:spPr>
      </p:sp>
      <p:sp>
        <p:nvSpPr>
          <p:cNvPr id="20" name="Text 18"/>
          <p:cNvSpPr txBox="1"/>
          <p:nvPr/>
        </p:nvSpPr>
        <p:spPr>
          <a:xfrm>
            <a:off x="640080" y="3090672"/>
            <a:ext cx="3749040" cy="320040"/>
          </a:xfrm>
          <a:prstGeom prst="rect">
            <a:avLst/>
          </a:prstGeom>
          <a:noFill/>
          <a:ln/>
        </p:spPr>
        <p:txBody>
          <a:bodyPr wrap="square" lIns="0" tIns="0" rIns="0" bIns="0" rtlCol="0" anchor="ctr"/>
          <a:lstStyle/>
          <a:p>
            <a:pPr indent="0" marL="0">
              <a:buNone/>
            </a:pPr>
            <a:r>
              <a:rPr lang="en-US" sz="1400" b="1" dirty="0">
                <a:solidFill>
                  <a:srgbClr val="4B1D6E"/>
                </a:solidFill>
                <a:latin typeface="Calibri" pitchFamily="34" charset="0"/>
                <a:ea typeface="Calibri" pitchFamily="34" charset="-122"/>
                <a:cs typeface="Calibri" pitchFamily="34" charset="-120"/>
              </a:rPr>
              <a:t>Money Transfer</a:t>
            </a:r>
            <a:endParaRPr lang="en-US" sz="1400" dirty="0"/>
          </a:p>
        </p:txBody>
      </p:sp>
      <p:sp>
        <p:nvSpPr>
          <p:cNvPr id="21" name="Text 19"/>
          <p:cNvSpPr txBox="1"/>
          <p:nvPr/>
        </p:nvSpPr>
        <p:spPr>
          <a:xfrm>
            <a:off x="640080" y="3429000"/>
            <a:ext cx="3749040" cy="1051560"/>
          </a:xfrm>
          <a:prstGeom prst="rect">
            <a:avLst/>
          </a:prstGeom>
          <a:noFill/>
          <a:ln/>
        </p:spPr>
        <p:txBody>
          <a:bodyPr wrap="square" lIns="0" tIns="0" rIns="0" bIns="0" rtlCol="0" anchor="t"/>
          <a:lstStyle/>
          <a:p>
            <a:pPr indent="0" marL="0">
              <a:buNone/>
            </a:pPr>
            <a:r>
              <a:rPr lang="en-US" sz="1150" dirty="0">
                <a:solidFill>
                  <a:srgbClr val="2B2B2B"/>
                </a:solidFill>
                <a:latin typeface="Calibri" pitchFamily="34" charset="0"/>
                <a:ea typeface="Calibri" pitchFamily="34" charset="-122"/>
                <a:cs typeface="Calibri" pitchFamily="34" charset="-120"/>
              </a:rPr>
              <a:t>Total transfer value, transaction count, payment status, failure reasons, and transfer type.</a:t>
            </a:r>
            <a:endParaRPr lang="en-US" sz="1150" dirty="0"/>
          </a:p>
        </p:txBody>
      </p:sp>
      <p:sp>
        <p:nvSpPr>
          <p:cNvPr id="22" name="Shape 20"/>
          <p:cNvSpPr/>
          <p:nvPr/>
        </p:nvSpPr>
        <p:spPr>
          <a:xfrm>
            <a:off x="4663440" y="3017520"/>
            <a:ext cx="4023360" cy="1554480"/>
          </a:xfrm>
          <a:prstGeom prst="rect">
            <a:avLst/>
          </a:prstGeom>
          <a:solidFill>
            <a:srgbClr val="F6EEF9"/>
          </a:solidFill>
          <a:ln w="9525">
            <a:solidFill>
              <a:srgbClr val="D9C6E4"/>
            </a:solidFill>
            <a:prstDash val="solid"/>
          </a:ln>
        </p:spPr>
      </p:sp>
      <p:sp>
        <p:nvSpPr>
          <p:cNvPr id="23" name="Shape 21"/>
          <p:cNvSpPr/>
          <p:nvPr/>
        </p:nvSpPr>
        <p:spPr>
          <a:xfrm>
            <a:off x="4663440" y="3017520"/>
            <a:ext cx="64008" cy="1554480"/>
          </a:xfrm>
          <a:prstGeom prst="rect">
            <a:avLst/>
          </a:prstGeom>
          <a:solidFill>
            <a:srgbClr val="A23B82"/>
          </a:solidFill>
          <a:ln w="12700">
            <a:solidFill>
              <a:srgbClr val="A23B82"/>
            </a:solidFill>
            <a:prstDash val="solid"/>
          </a:ln>
        </p:spPr>
      </p:sp>
      <p:sp>
        <p:nvSpPr>
          <p:cNvPr id="24" name="Text 22"/>
          <p:cNvSpPr txBox="1"/>
          <p:nvPr/>
        </p:nvSpPr>
        <p:spPr>
          <a:xfrm>
            <a:off x="4846320" y="3090672"/>
            <a:ext cx="3749040" cy="320040"/>
          </a:xfrm>
          <a:prstGeom prst="rect">
            <a:avLst/>
          </a:prstGeom>
          <a:noFill/>
          <a:ln/>
        </p:spPr>
        <p:txBody>
          <a:bodyPr wrap="square" lIns="0" tIns="0" rIns="0" bIns="0" rtlCol="0" anchor="ctr"/>
          <a:lstStyle/>
          <a:p>
            <a:pPr indent="0" marL="0">
              <a:buNone/>
            </a:pPr>
            <a:r>
              <a:rPr lang="en-US" sz="1400" b="1" dirty="0">
                <a:solidFill>
                  <a:srgbClr val="4B1D6E"/>
                </a:solidFill>
                <a:latin typeface="Calibri" pitchFamily="34" charset="0"/>
                <a:ea typeface="Calibri" pitchFamily="34" charset="-122"/>
                <a:cs typeface="Calibri" pitchFamily="34" charset="-120"/>
              </a:rPr>
              <a:t>Recharge &amp; Bills</a:t>
            </a:r>
            <a:endParaRPr lang="en-US" sz="1400" dirty="0"/>
          </a:p>
        </p:txBody>
      </p:sp>
      <p:sp>
        <p:nvSpPr>
          <p:cNvPr id="25" name="Text 23"/>
          <p:cNvSpPr txBox="1"/>
          <p:nvPr/>
        </p:nvSpPr>
        <p:spPr>
          <a:xfrm>
            <a:off x="4846320" y="3429000"/>
            <a:ext cx="3749040" cy="1051560"/>
          </a:xfrm>
          <a:prstGeom prst="rect">
            <a:avLst/>
          </a:prstGeom>
          <a:noFill/>
          <a:ln/>
        </p:spPr>
        <p:txBody>
          <a:bodyPr wrap="square" lIns="0" tIns="0" rIns="0" bIns="0" rtlCol="0" anchor="t"/>
          <a:lstStyle/>
          <a:p>
            <a:pPr indent="0" marL="0">
              <a:buNone/>
            </a:pPr>
            <a:r>
              <a:rPr lang="en-US" sz="1150" dirty="0">
                <a:solidFill>
                  <a:srgbClr val="2B2B2B"/>
                </a:solidFill>
                <a:latin typeface="Calibri" pitchFamily="34" charset="0"/>
                <a:ea typeface="Calibri" pitchFamily="34" charset="-122"/>
                <a:cs typeface="Calibri" pitchFamily="34" charset="-120"/>
              </a:rPr>
              <a:t>Total amount, payment status, failure reasons, and value by recharge type.</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4B1D6E"/>
          </a:solidFill>
          <a:ln w="12700">
            <a:solidFill>
              <a:srgbClr val="4B1D6E"/>
            </a:solidFill>
            <a:prstDash val="solid"/>
          </a:ln>
        </p:spPr>
      </p:sp>
      <p:sp>
        <p:nvSpPr>
          <p:cNvPr id="3" name="Text 1"/>
          <p:cNvSpPr txBox="1"/>
          <p:nvPr/>
        </p:nvSpPr>
        <p:spPr>
          <a:xfrm>
            <a:off x="457200" y="274320"/>
            <a:ext cx="8229600" cy="502920"/>
          </a:xfrm>
          <a:prstGeom prst="rect">
            <a:avLst/>
          </a:prstGeom>
          <a:noFill/>
          <a:ln/>
        </p:spPr>
        <p:txBody>
          <a:bodyPr wrap="square" lIns="0" tIns="0" rIns="0" bIns="0" rtlCol="0" anchor="ctr"/>
          <a:lstStyle/>
          <a:p>
            <a:pPr indent="0" marL="0">
              <a:buNone/>
            </a:pPr>
            <a:r>
              <a:rPr lang="en-US" sz="2400" b="1" dirty="0">
                <a:solidFill>
                  <a:srgbClr val="4B1D6E"/>
                </a:solidFill>
                <a:latin typeface="Calibri" pitchFamily="34" charset="0"/>
                <a:ea typeface="Calibri" pitchFamily="34" charset="-122"/>
                <a:cs typeface="Calibri" pitchFamily="34" charset="-120"/>
              </a:rPr>
              <a:t>Key Performance Indicators</a:t>
            </a:r>
            <a:endParaRPr lang="en-US" sz="2400" dirty="0"/>
          </a:p>
        </p:txBody>
      </p:sp>
      <p:sp>
        <p:nvSpPr>
          <p:cNvPr id="4" name="Text 2"/>
          <p:cNvSpPr txBox="1"/>
          <p:nvPr/>
        </p:nvSpPr>
        <p:spPr>
          <a:xfrm>
            <a:off x="457200" y="777240"/>
            <a:ext cx="8229600" cy="32004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KPI results as shown on the dashboard</a:t>
            </a:r>
            <a:endParaRPr lang="en-US" sz="1300" dirty="0"/>
          </a:p>
        </p:txBody>
      </p:sp>
      <p:sp>
        <p:nvSpPr>
          <p:cNvPr id="5" name="Text 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PhonePe Transaction Analysis  |  11</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377440"/>
                <a:gridCol w="4023360"/>
                <a:gridCol w="182880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KPI</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4B1D6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Business definition</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4B1D6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4B1D6E"/>
                    </a:solidFill>
                  </a:tcPr>
                </a:tc>
              </a:tr>
              <a:tr h="384048">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Total transactions</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All transaction records in the period</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300K</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Successful transactions</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Transactions with status Successful</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288K</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r>
              <a:tr h="384048">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Failed transactions</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Transactions that did not complete</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10K</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Total amount (overall)</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Sum of transaction amounts</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3.3bn</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r>
              <a:tr h="384048">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Success rate</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Successful transactions as a share of total</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About 96%</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Payment status mix</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Successful vs failed share, per service</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95.75% to 96.16%</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r>
            </a:tbl>
          </a:graphicData>
        </a:graphic>
      </p:graphicFrame>
      <p:sp>
        <p:nvSpPr>
          <p:cNvPr id="7" name="Text 4"/>
          <p:cNvSpPr txBox="1"/>
          <p:nvPr/>
        </p:nvSpPr>
        <p:spPr>
          <a:xfrm>
            <a:off x="457200" y="4297680"/>
            <a:ext cx="8229600" cy="274320"/>
          </a:xfrm>
          <a:prstGeom prst="rect">
            <a:avLst/>
          </a:prstGeom>
          <a:noFill/>
          <a:ln/>
        </p:spPr>
        <p:txBody>
          <a:bodyPr wrap="square" lIns="0" tIns="0" rIns="0" bIns="0" rtlCol="0" anchor="ctr"/>
          <a:lstStyle/>
          <a:p>
            <a:pPr indent="0" marL="0">
              <a:buNone/>
            </a:pPr>
            <a:r>
              <a:rPr lang="en-US" sz="1000" i="1" dirty="0">
                <a:solidFill>
                  <a:srgbClr val="6B6B6B"/>
                </a:solidFill>
                <a:latin typeface="Calibri" pitchFamily="34" charset="0"/>
                <a:ea typeface="Calibri" pitchFamily="34" charset="-122"/>
                <a:cs typeface="Calibri" pitchFamily="34" charset="-120"/>
              </a:rPr>
              <a:t>Exact DAX formulas to be confirmed against the .pbix file.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4B1D6E"/>
          </a:solidFill>
          <a:ln w="12700">
            <a:solidFill>
              <a:srgbClr val="4B1D6E"/>
            </a:solidFill>
            <a:prstDash val="solid"/>
          </a:ln>
        </p:spPr>
      </p:sp>
      <p:sp>
        <p:nvSpPr>
          <p:cNvPr id="3" name="Text 1"/>
          <p:cNvSpPr txBox="1"/>
          <p:nvPr/>
        </p:nvSpPr>
        <p:spPr>
          <a:xfrm>
            <a:off x="457200" y="274320"/>
            <a:ext cx="8229600" cy="502920"/>
          </a:xfrm>
          <a:prstGeom prst="rect">
            <a:avLst/>
          </a:prstGeom>
          <a:noFill/>
          <a:ln/>
        </p:spPr>
        <p:txBody>
          <a:bodyPr wrap="square" lIns="0" tIns="0" rIns="0" bIns="0" rtlCol="0" anchor="ctr"/>
          <a:lstStyle/>
          <a:p>
            <a:pPr indent="0" marL="0">
              <a:buNone/>
            </a:pPr>
            <a:r>
              <a:rPr lang="en-US" sz="2400" b="1" dirty="0">
                <a:solidFill>
                  <a:srgbClr val="4B1D6E"/>
                </a:solidFill>
                <a:latin typeface="Calibri" pitchFamily="34" charset="0"/>
                <a:ea typeface="Calibri" pitchFamily="34" charset="-122"/>
                <a:cs typeface="Calibri" pitchFamily="34" charset="-120"/>
              </a:rPr>
              <a:t>Service-Level Performance</a:t>
            </a:r>
            <a:endParaRPr lang="en-US" sz="2400" dirty="0"/>
          </a:p>
        </p:txBody>
      </p:sp>
      <p:sp>
        <p:nvSpPr>
          <p:cNvPr id="4" name="Text 2"/>
          <p:cNvSpPr txBox="1"/>
          <p:nvPr/>
        </p:nvSpPr>
        <p:spPr>
          <a:xfrm>
            <a:off x="457200" y="777240"/>
            <a:ext cx="8229600" cy="32004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Volume, value and success rate by service</a:t>
            </a:r>
            <a:endParaRPr lang="en-US" sz="1300" dirty="0"/>
          </a:p>
        </p:txBody>
      </p:sp>
      <p:sp>
        <p:nvSpPr>
          <p:cNvPr id="5" name="Text 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PhonePe Transaction Analysis  |  12</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286000"/>
                <a:gridCol w="1645920"/>
                <a:gridCol w="2560320"/>
                <a:gridCol w="173736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Service</a:t>
                      </a:r>
                      <a:endParaRPr lang="en-US" sz="13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4B1D6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Transactions</a:t>
                      </a:r>
                      <a:endParaRPr lang="en-US" sz="13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4B1D6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Value shown on dashboard</a:t>
                      </a:r>
                      <a:endParaRPr lang="en-US" sz="13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4B1D6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Success rate</a:t>
                      </a:r>
                      <a:endParaRPr lang="en-US" sz="13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4B1D6E"/>
                    </a:solidFill>
                  </a:tcPr>
                </a:tc>
              </a:tr>
              <a:tr h="45720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Money Transfer</a:t>
                      </a:r>
                      <a:endParaRPr lang="en-US" sz="13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150K</a:t>
                      </a:r>
                      <a:endParaRPr lang="en-US" sz="13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362.95M</a:t>
                      </a:r>
                      <a:endParaRPr lang="en-US" sz="13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95.98%</a:t>
                      </a:r>
                      <a:endParaRPr lang="en-US" sz="13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Loans</a:t>
                      </a:r>
                      <a:endParaRPr lang="en-US" sz="13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50K</a:t>
                      </a:r>
                      <a:endParaRPr lang="en-US" sz="13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2.53bn</a:t>
                      </a:r>
                      <a:endParaRPr lang="en-US" sz="13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95.95%</a:t>
                      </a:r>
                      <a:endParaRPr lang="en-US" sz="13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r>
              <a:tr h="45720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Insurance</a:t>
                      </a:r>
                      <a:endParaRPr lang="en-US" sz="13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50K</a:t>
                      </a:r>
                      <a:endParaRPr lang="en-US" sz="13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513M</a:t>
                      </a:r>
                      <a:endParaRPr lang="en-US" sz="13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95.75%</a:t>
                      </a:r>
                      <a:endParaRPr lang="en-US" sz="13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Recharge &amp; Bills</a:t>
                      </a:r>
                      <a:endParaRPr lang="en-US" sz="13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50K</a:t>
                      </a:r>
                      <a:endParaRPr lang="en-US" sz="13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50.69M</a:t>
                      </a:r>
                      <a:endParaRPr lang="en-US" sz="13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c>
                  <a:txBody>
                    <a:bodyPr/>
                    <a:lstStyle/>
                    <a:p>
                      <a:pPr indent="0" marL="0">
                        <a:buNone/>
                      </a:pPr>
                      <a:r>
                        <a:rPr lang="en-US" sz="1300" dirty="0">
                          <a:solidFill>
                            <a:srgbClr val="2B2B2B"/>
                          </a:solidFill>
                          <a:latin typeface="Calibri" pitchFamily="34" charset="0"/>
                          <a:ea typeface="Calibri" pitchFamily="34" charset="-122"/>
                          <a:cs typeface="Calibri" pitchFamily="34" charset="-120"/>
                        </a:rPr>
                        <a:t>96.16%</a:t>
                      </a:r>
                      <a:endParaRPr lang="en-US" sz="13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r>
            </a:tbl>
          </a:graphicData>
        </a:graphic>
      </p:graphicFrame>
      <p:sp>
        <p:nvSpPr>
          <p:cNvPr id="7" name="Shape 4"/>
          <p:cNvSpPr/>
          <p:nvPr/>
        </p:nvSpPr>
        <p:spPr>
          <a:xfrm>
            <a:off x="457200" y="3566160"/>
            <a:ext cx="8229600" cy="1005840"/>
          </a:xfrm>
          <a:prstGeom prst="rect">
            <a:avLst/>
          </a:prstGeom>
          <a:solidFill>
            <a:srgbClr val="F6EEF9"/>
          </a:solidFill>
          <a:ln w="9525">
            <a:solidFill>
              <a:srgbClr val="D9C6E4"/>
            </a:solidFill>
            <a:prstDash val="solid"/>
          </a:ln>
        </p:spPr>
      </p:sp>
      <p:sp>
        <p:nvSpPr>
          <p:cNvPr id="8" name="Shape 5"/>
          <p:cNvSpPr/>
          <p:nvPr/>
        </p:nvSpPr>
        <p:spPr>
          <a:xfrm>
            <a:off x="457200" y="3566160"/>
            <a:ext cx="64008" cy="1005840"/>
          </a:xfrm>
          <a:prstGeom prst="rect">
            <a:avLst/>
          </a:prstGeom>
          <a:solidFill>
            <a:srgbClr val="A23B82"/>
          </a:solidFill>
          <a:ln w="12700">
            <a:solidFill>
              <a:srgbClr val="A23B82"/>
            </a:solidFill>
            <a:prstDash val="solid"/>
          </a:ln>
        </p:spPr>
      </p:sp>
      <p:sp>
        <p:nvSpPr>
          <p:cNvPr id="9" name="Text 6"/>
          <p:cNvSpPr txBox="1"/>
          <p:nvPr/>
        </p:nvSpPr>
        <p:spPr>
          <a:xfrm>
            <a:off x="640080" y="3639312"/>
            <a:ext cx="7955280" cy="320040"/>
          </a:xfrm>
          <a:prstGeom prst="rect">
            <a:avLst/>
          </a:prstGeom>
          <a:noFill/>
          <a:ln/>
        </p:spPr>
        <p:txBody>
          <a:bodyPr wrap="square" lIns="0" tIns="0" rIns="0" bIns="0" rtlCol="0" anchor="ctr"/>
          <a:lstStyle/>
          <a:p>
            <a:pPr indent="0" marL="0">
              <a:buNone/>
            </a:pPr>
            <a:r>
              <a:rPr lang="en-US" sz="1400" b="1" dirty="0">
                <a:solidFill>
                  <a:srgbClr val="4B1D6E"/>
                </a:solidFill>
                <a:latin typeface="Calibri" pitchFamily="34" charset="0"/>
                <a:ea typeface="Calibri" pitchFamily="34" charset="-122"/>
                <a:cs typeface="Calibri" pitchFamily="34" charset="-120"/>
              </a:rPr>
              <a:t>Reading the table</a:t>
            </a:r>
            <a:endParaRPr lang="en-US" sz="1400" dirty="0"/>
          </a:p>
        </p:txBody>
      </p:sp>
      <p:sp>
        <p:nvSpPr>
          <p:cNvPr id="10" name="Text 7"/>
          <p:cNvSpPr txBox="1"/>
          <p:nvPr/>
        </p:nvSpPr>
        <p:spPr>
          <a:xfrm>
            <a:off x="640080" y="3977640"/>
            <a:ext cx="7955280" cy="502920"/>
          </a:xfrm>
          <a:prstGeom prst="rect">
            <a:avLst/>
          </a:prstGeom>
          <a:noFill/>
          <a:ln/>
        </p:spPr>
        <p:txBody>
          <a:bodyPr wrap="square" lIns="0" tIns="0" rIns="0" bIns="0" rtlCol="0" anchor="t"/>
          <a:lstStyle/>
          <a:p>
            <a:pPr indent="0" marL="0">
              <a:buNone/>
            </a:pPr>
            <a:r>
              <a:rPr lang="en-US" sz="1150" dirty="0">
                <a:solidFill>
                  <a:srgbClr val="2B2B2B"/>
                </a:solidFill>
                <a:latin typeface="Calibri" pitchFamily="34" charset="0"/>
                <a:ea typeface="Calibri" pitchFamily="34" charset="-122"/>
                <a:cs typeface="Calibri" pitchFamily="34" charset="-120"/>
              </a:rPr>
              <a:t>Money Transfer has the highest transaction count (half of all transactions). Loans carry the largest value. Value basis differs by card: see the limitations slide.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4B1D6E"/>
          </a:solidFill>
          <a:ln w="12700">
            <a:solidFill>
              <a:srgbClr val="4B1D6E"/>
            </a:solidFill>
            <a:prstDash val="solid"/>
          </a:ln>
        </p:spPr>
      </p:sp>
      <p:sp>
        <p:nvSpPr>
          <p:cNvPr id="3" name="Text 1"/>
          <p:cNvSpPr txBox="1"/>
          <p:nvPr/>
        </p:nvSpPr>
        <p:spPr>
          <a:xfrm>
            <a:off x="457200" y="274320"/>
            <a:ext cx="8229600" cy="502920"/>
          </a:xfrm>
          <a:prstGeom prst="rect">
            <a:avLst/>
          </a:prstGeom>
          <a:noFill/>
          <a:ln/>
        </p:spPr>
        <p:txBody>
          <a:bodyPr wrap="square" lIns="0" tIns="0" rIns="0" bIns="0" rtlCol="0" anchor="ctr"/>
          <a:lstStyle/>
          <a:p>
            <a:pPr indent="0" marL="0">
              <a:buNone/>
            </a:pPr>
            <a:r>
              <a:rPr lang="en-US" sz="2400" b="1" dirty="0">
                <a:solidFill>
                  <a:srgbClr val="4B1D6E"/>
                </a:solidFill>
                <a:latin typeface="Calibri" pitchFamily="34" charset="0"/>
                <a:ea typeface="Calibri" pitchFamily="34" charset="-122"/>
                <a:cs typeface="Calibri" pitchFamily="34" charset="-120"/>
              </a:rPr>
              <a:t>Payment Status and Failure Reasons</a:t>
            </a:r>
            <a:endParaRPr lang="en-US" sz="2400" dirty="0"/>
          </a:p>
        </p:txBody>
      </p:sp>
      <p:sp>
        <p:nvSpPr>
          <p:cNvPr id="4" name="Text 2"/>
          <p:cNvSpPr txBox="1"/>
          <p:nvPr/>
        </p:nvSpPr>
        <p:spPr>
          <a:xfrm>
            <a:off x="457200" y="777240"/>
            <a:ext cx="8229600" cy="32004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Overall status mix and the top failure reasons in each service</a:t>
            </a:r>
            <a:endParaRPr lang="en-US" sz="1300" dirty="0"/>
          </a:p>
        </p:txBody>
      </p:sp>
      <p:sp>
        <p:nvSpPr>
          <p:cNvPr id="5" name="Text 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PhonePe Transaction Analysis  |  13</a:t>
            </a:r>
            <a:endParaRPr lang="en-US" sz="900" dirty="0"/>
          </a:p>
        </p:txBody>
      </p:sp>
      <p:graphicFrame>
        <p:nvGraphicFramePr>
          <p:cNvPr id="6" name="Chart 0" descr=""/>
          <p:cNvGraphicFramePr/>
          <p:nvPr/>
        </p:nvGraphicFramePr>
        <p:xfrm>
          <a:off x="365760" y="1188720"/>
          <a:ext cx="3474720" cy="3383280"/>
        </p:xfrm>
        <a:graphic xmlns:a="http://schemas.openxmlformats.org/drawingml/2006/main">
          <a:graphicData uri="http://schemas.openxmlformats.org/drawingml/2006/chart">
            <c:chart xmlns:c="http://schemas.openxmlformats.org/drawingml/2006/chart" r:id="rId1"/>
          </a:graphicData>
        </a:graphic>
      </p:graphicFrame>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023360" y="1280160"/>
          <a:ext cx="4572000" cy="914400"/>
        </p:xfrm>
        <a:graphic>
          <a:graphicData uri="http://schemas.openxmlformats.org/drawingml/2006/table">
            <a:tbl>
              <a:tblPr/>
              <a:tblGrid>
                <a:gridCol w="1463040"/>
                <a:gridCol w="3108960"/>
              </a:tblGrid>
              <a:tr h="54864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Service</a:t>
                      </a:r>
                      <a:endParaRPr lang="en-US" sz="11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4B1D6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Top failure reasons (count)</a:t>
                      </a:r>
                      <a:endParaRPr lang="en-US" sz="11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4B1D6E"/>
                    </a:solidFill>
                  </a:tcPr>
                </a:tc>
              </a:tr>
              <a:tr h="548640">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Insurance</a:t>
                      </a:r>
                      <a:endParaRPr lang="en-US" sz="11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Wrong PIN 717; Server error 715; Insufficient amount 692</a:t>
                      </a:r>
                      <a:endParaRPr lang="en-US" sz="11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r>
              <a:tr h="548640">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Loans</a:t>
                      </a:r>
                      <a:endParaRPr lang="en-US" sz="11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Wrong Info 700; Server error 692; Bank Denied 635</a:t>
                      </a:r>
                      <a:endParaRPr lang="en-US" sz="11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r>
              <a:tr h="548640">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Money Transfer</a:t>
                      </a:r>
                      <a:endParaRPr lang="en-US" sz="11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Insufficient amount 2.08K; Server error 2K; Wrong PIN 1.96K</a:t>
                      </a:r>
                      <a:endParaRPr lang="en-US" sz="11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r>
              <a:tr h="548640">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Recharge &amp; Bills</a:t>
                      </a:r>
                      <a:endParaRPr lang="en-US" sz="11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c>
                  <a:txBody>
                    <a:bodyPr/>
                    <a:lstStyle/>
                    <a:p>
                      <a:pPr indent="0" marL="0">
                        <a:buNone/>
                      </a:pPr>
                      <a:r>
                        <a:rPr lang="en-US" sz="1100" dirty="0">
                          <a:solidFill>
                            <a:srgbClr val="2B2B2B"/>
                          </a:solidFill>
                          <a:latin typeface="Calibri" pitchFamily="34" charset="0"/>
                          <a:ea typeface="Calibri" pitchFamily="34" charset="-122"/>
                          <a:cs typeface="Calibri" pitchFamily="34" charset="-120"/>
                        </a:rPr>
                        <a:t>Server error 661; Wrong PIN 642; Insufficient amount 618</a:t>
                      </a:r>
                      <a:endParaRPr lang="en-US" sz="11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4B1D6E"/>
          </a:solidFill>
          <a:ln w="12700">
            <a:solidFill>
              <a:srgbClr val="4B1D6E"/>
            </a:solidFill>
            <a:prstDash val="solid"/>
          </a:ln>
        </p:spPr>
      </p:sp>
      <p:sp>
        <p:nvSpPr>
          <p:cNvPr id="3" name="Text 1"/>
          <p:cNvSpPr txBox="1"/>
          <p:nvPr/>
        </p:nvSpPr>
        <p:spPr>
          <a:xfrm>
            <a:off x="457200" y="274320"/>
            <a:ext cx="8229600" cy="502920"/>
          </a:xfrm>
          <a:prstGeom prst="rect">
            <a:avLst/>
          </a:prstGeom>
          <a:noFill/>
          <a:ln/>
        </p:spPr>
        <p:txBody>
          <a:bodyPr wrap="square" lIns="0" tIns="0" rIns="0" bIns="0" rtlCol="0" anchor="ctr"/>
          <a:lstStyle/>
          <a:p>
            <a:pPr indent="0" marL="0">
              <a:buNone/>
            </a:pPr>
            <a:r>
              <a:rPr lang="en-US" sz="2400" b="1" dirty="0">
                <a:solidFill>
                  <a:srgbClr val="4B1D6E"/>
                </a:solidFill>
                <a:latin typeface="Calibri" pitchFamily="34" charset="0"/>
                <a:ea typeface="Calibri" pitchFamily="34" charset="-122"/>
                <a:cs typeface="Calibri" pitchFamily="34" charset="-120"/>
              </a:rPr>
              <a:t>Key Findings and Business Insights</a:t>
            </a:r>
            <a:endParaRPr lang="en-US" sz="2400" dirty="0"/>
          </a:p>
        </p:txBody>
      </p:sp>
      <p:sp>
        <p:nvSpPr>
          <p:cNvPr id="4" name="Text 2"/>
          <p:cNvSpPr txBox="1"/>
          <p:nvPr/>
        </p:nvSpPr>
        <p:spPr>
          <a:xfrm>
            <a:off x="457200" y="777240"/>
            <a:ext cx="8229600" cy="32004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Observed facts from the dashboard, and hypotheses to investigate</a:t>
            </a:r>
            <a:endParaRPr lang="en-US" sz="1300" dirty="0"/>
          </a:p>
        </p:txBody>
      </p:sp>
      <p:sp>
        <p:nvSpPr>
          <p:cNvPr id="5" name="Text 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PhonePe Transaction Analysis  |  14</a:t>
            </a:r>
            <a:endParaRPr lang="en-US" sz="900" dirty="0"/>
          </a:p>
        </p:txBody>
      </p:sp>
      <p:sp>
        <p:nvSpPr>
          <p:cNvPr id="6" name="Shape 4"/>
          <p:cNvSpPr/>
          <p:nvPr/>
        </p:nvSpPr>
        <p:spPr>
          <a:xfrm>
            <a:off x="457200" y="1280160"/>
            <a:ext cx="4023360" cy="3291840"/>
          </a:xfrm>
          <a:prstGeom prst="rect">
            <a:avLst/>
          </a:prstGeom>
          <a:solidFill>
            <a:srgbClr val="F6EEF9"/>
          </a:solidFill>
          <a:ln w="9525">
            <a:solidFill>
              <a:srgbClr val="D9C6E4"/>
            </a:solidFill>
            <a:prstDash val="solid"/>
          </a:ln>
        </p:spPr>
      </p:sp>
      <p:sp>
        <p:nvSpPr>
          <p:cNvPr id="7" name="Shape 5"/>
          <p:cNvSpPr/>
          <p:nvPr/>
        </p:nvSpPr>
        <p:spPr>
          <a:xfrm>
            <a:off x="457200" y="1280160"/>
            <a:ext cx="64008" cy="3291840"/>
          </a:xfrm>
          <a:prstGeom prst="rect">
            <a:avLst/>
          </a:prstGeom>
          <a:solidFill>
            <a:srgbClr val="A23B82"/>
          </a:solidFill>
          <a:ln w="12700">
            <a:solidFill>
              <a:srgbClr val="A23B82"/>
            </a:solidFill>
            <a:prstDash val="solid"/>
          </a:ln>
        </p:spPr>
      </p:sp>
      <p:sp>
        <p:nvSpPr>
          <p:cNvPr id="8" name="Text 6"/>
          <p:cNvSpPr txBox="1"/>
          <p:nvPr/>
        </p:nvSpPr>
        <p:spPr>
          <a:xfrm>
            <a:off x="640080" y="1353312"/>
            <a:ext cx="3749040" cy="320040"/>
          </a:xfrm>
          <a:prstGeom prst="rect">
            <a:avLst/>
          </a:prstGeom>
          <a:noFill/>
          <a:ln/>
        </p:spPr>
        <p:txBody>
          <a:bodyPr wrap="square" lIns="0" tIns="0" rIns="0" bIns="0" rtlCol="0" anchor="ctr"/>
          <a:lstStyle/>
          <a:p>
            <a:pPr indent="0" marL="0">
              <a:buNone/>
            </a:pPr>
            <a:r>
              <a:rPr lang="en-US" sz="1400" b="1" dirty="0">
                <a:solidFill>
                  <a:srgbClr val="4B1D6E"/>
                </a:solidFill>
                <a:latin typeface="Calibri" pitchFamily="34" charset="0"/>
                <a:ea typeface="Calibri" pitchFamily="34" charset="-122"/>
                <a:cs typeface="Calibri" pitchFamily="34" charset="-120"/>
              </a:rPr>
              <a:t>Observed facts</a:t>
            </a:r>
            <a:endParaRPr lang="en-US" sz="1400" dirty="0"/>
          </a:p>
        </p:txBody>
      </p:sp>
      <p:sp>
        <p:nvSpPr>
          <p:cNvPr id="9" name="Text 7"/>
          <p:cNvSpPr txBox="1"/>
          <p:nvPr/>
        </p:nvSpPr>
        <p:spPr>
          <a:xfrm>
            <a:off x="640080" y="1691640"/>
            <a:ext cx="3749040" cy="2788920"/>
          </a:xfrm>
          <a:prstGeom prst="rect">
            <a:avLst/>
          </a:prstGeom>
          <a:noFill/>
          <a:ln/>
        </p:spPr>
        <p:txBody>
          <a:bodyPr wrap="square" lIns="0" tIns="0" rIns="0" bIns="0" rtlCol="0" anchor="t"/>
          <a:lstStyle/>
          <a:p>
            <a:pPr indent="0" marL="0">
              <a:buNone/>
            </a:pPr>
            <a:r>
              <a:rPr lang="en-US" sz="1150" dirty="0">
                <a:solidFill>
                  <a:srgbClr val="2B2B2B"/>
                </a:solidFill>
                <a:latin typeface="Calibri" pitchFamily="34" charset="0"/>
                <a:ea typeface="Calibri" pitchFamily="34" charset="-122"/>
                <a:cs typeface="Calibri" pitchFamily="34" charset="-120"/>
              </a:rPr>
              <a:t>•  Success rate is consistent at about 96% across all four services (95.75% to 96.16%).</a:t>
            </a:r>
            <a:endParaRPr lang="en-US" sz="1150" dirty="0"/>
          </a:p>
          <a:p>
            <a:pPr indent="0" marL="0">
              <a:buNone/>
            </a:pPr>
            <a:endParaRPr lang="en-US" sz="1150" dirty="0"/>
          </a:p>
          <a:p>
            <a:pPr indent="0" marL="0">
              <a:buNone/>
            </a:pPr>
            <a:r>
              <a:rPr lang="en-US" sz="1150" dirty="0">
                <a:solidFill>
                  <a:srgbClr val="2B2B2B"/>
                </a:solidFill>
                <a:latin typeface="Calibri" pitchFamily="34" charset="0"/>
                <a:ea typeface="Calibri" pitchFamily="34" charset="-122"/>
                <a:cs typeface="Calibri" pitchFamily="34" charset="-120"/>
              </a:rPr>
              <a:t>•  Money Transfer accounts for half of all transactions (150K of 300K) and the highest failure count (6.04K).</a:t>
            </a:r>
            <a:endParaRPr lang="en-US" sz="1150" dirty="0"/>
          </a:p>
          <a:p>
            <a:pPr indent="0" marL="0">
              <a:buNone/>
            </a:pPr>
            <a:endParaRPr lang="en-US" sz="1150" dirty="0"/>
          </a:p>
          <a:p>
            <a:pPr indent="0" marL="0">
              <a:buNone/>
            </a:pPr>
            <a:r>
              <a:rPr lang="en-US" sz="1150" dirty="0">
                <a:solidFill>
                  <a:srgbClr val="2B2B2B"/>
                </a:solidFill>
                <a:latin typeface="Calibri" pitchFamily="34" charset="0"/>
                <a:ea typeface="Calibri" pitchFamily="34" charset="-122"/>
                <a:cs typeface="Calibri" pitchFamily="34" charset="-120"/>
              </a:rPr>
              <a:t>•  Loans hold the largest transaction value (2.53bn).</a:t>
            </a:r>
            <a:endParaRPr lang="en-US" sz="1150" dirty="0"/>
          </a:p>
          <a:p>
            <a:pPr indent="0" marL="0">
              <a:buNone/>
            </a:pPr>
            <a:endParaRPr lang="en-US" sz="1150" dirty="0"/>
          </a:p>
          <a:p>
            <a:pPr indent="0" marL="0">
              <a:buNone/>
            </a:pPr>
            <a:r>
              <a:rPr lang="en-US" sz="1150" dirty="0">
                <a:solidFill>
                  <a:srgbClr val="2B2B2B"/>
                </a:solidFill>
                <a:latin typeface="Calibri" pitchFamily="34" charset="0"/>
                <a:ea typeface="Calibri" pitchFamily="34" charset="-122"/>
                <a:cs typeface="Calibri" pitchFamily="34" charset="-120"/>
              </a:rPr>
              <a:t>•  Failure reasons split roughly one-third each within every service.</a:t>
            </a:r>
            <a:endParaRPr lang="en-US" sz="1150" dirty="0"/>
          </a:p>
        </p:txBody>
      </p:sp>
      <p:sp>
        <p:nvSpPr>
          <p:cNvPr id="10" name="Shape 8"/>
          <p:cNvSpPr/>
          <p:nvPr/>
        </p:nvSpPr>
        <p:spPr>
          <a:xfrm>
            <a:off x="4663440" y="1280160"/>
            <a:ext cx="4023360" cy="3291840"/>
          </a:xfrm>
          <a:prstGeom prst="rect">
            <a:avLst/>
          </a:prstGeom>
          <a:solidFill>
            <a:srgbClr val="F6EEF9"/>
          </a:solidFill>
          <a:ln w="9525">
            <a:solidFill>
              <a:srgbClr val="D9C6E4"/>
            </a:solidFill>
            <a:prstDash val="solid"/>
          </a:ln>
        </p:spPr>
      </p:sp>
      <p:sp>
        <p:nvSpPr>
          <p:cNvPr id="11" name="Shape 9"/>
          <p:cNvSpPr/>
          <p:nvPr/>
        </p:nvSpPr>
        <p:spPr>
          <a:xfrm>
            <a:off x="4663440" y="1280160"/>
            <a:ext cx="64008" cy="3291840"/>
          </a:xfrm>
          <a:prstGeom prst="rect">
            <a:avLst/>
          </a:prstGeom>
          <a:solidFill>
            <a:srgbClr val="A23B82"/>
          </a:solidFill>
          <a:ln w="12700">
            <a:solidFill>
              <a:srgbClr val="A23B82"/>
            </a:solidFill>
            <a:prstDash val="solid"/>
          </a:ln>
        </p:spPr>
      </p:sp>
      <p:sp>
        <p:nvSpPr>
          <p:cNvPr id="12" name="Text 10"/>
          <p:cNvSpPr txBox="1"/>
          <p:nvPr/>
        </p:nvSpPr>
        <p:spPr>
          <a:xfrm>
            <a:off x="4846320" y="1353312"/>
            <a:ext cx="3749040" cy="320040"/>
          </a:xfrm>
          <a:prstGeom prst="rect">
            <a:avLst/>
          </a:prstGeom>
          <a:noFill/>
          <a:ln/>
        </p:spPr>
        <p:txBody>
          <a:bodyPr wrap="square" lIns="0" tIns="0" rIns="0" bIns="0" rtlCol="0" anchor="ctr"/>
          <a:lstStyle/>
          <a:p>
            <a:pPr indent="0" marL="0">
              <a:buNone/>
            </a:pPr>
            <a:r>
              <a:rPr lang="en-US" sz="1400" b="1" dirty="0">
                <a:solidFill>
                  <a:srgbClr val="4B1D6E"/>
                </a:solidFill>
                <a:latin typeface="Calibri" pitchFamily="34" charset="0"/>
                <a:ea typeface="Calibri" pitchFamily="34" charset="-122"/>
                <a:cs typeface="Calibri" pitchFamily="34" charset="-120"/>
              </a:rPr>
              <a:t>Hypotheses to investigate</a:t>
            </a:r>
            <a:endParaRPr lang="en-US" sz="1400" dirty="0"/>
          </a:p>
        </p:txBody>
      </p:sp>
      <p:sp>
        <p:nvSpPr>
          <p:cNvPr id="13" name="Text 11"/>
          <p:cNvSpPr txBox="1"/>
          <p:nvPr/>
        </p:nvSpPr>
        <p:spPr>
          <a:xfrm>
            <a:off x="4846320" y="1691640"/>
            <a:ext cx="3749040" cy="2788920"/>
          </a:xfrm>
          <a:prstGeom prst="rect">
            <a:avLst/>
          </a:prstGeom>
          <a:noFill/>
          <a:ln/>
        </p:spPr>
        <p:txBody>
          <a:bodyPr wrap="square" lIns="0" tIns="0" rIns="0" bIns="0" rtlCol="0" anchor="t"/>
          <a:lstStyle/>
          <a:p>
            <a:pPr indent="0" marL="0">
              <a:buNone/>
            </a:pPr>
            <a:r>
              <a:rPr lang="en-US" sz="1150" dirty="0">
                <a:solidFill>
                  <a:srgbClr val="2B2B2B"/>
                </a:solidFill>
                <a:latin typeface="Calibri" pitchFamily="34" charset="0"/>
                <a:ea typeface="Calibri" pitchFamily="34" charset="-122"/>
                <a:cs typeface="Calibri" pitchFamily="34" charset="-120"/>
              </a:rPr>
              <a:t>•  Server errors appear in every service at about one-third of failures. This may point to a platform reliability issue, which needs technical investigation.</a:t>
            </a:r>
            <a:endParaRPr lang="en-US" sz="1150" dirty="0"/>
          </a:p>
          <a:p>
            <a:pPr indent="0" marL="0">
              <a:buNone/>
            </a:pPr>
            <a:endParaRPr lang="en-US" sz="1150" dirty="0"/>
          </a:p>
          <a:p>
            <a:pPr indent="0" marL="0">
              <a:buNone/>
            </a:pPr>
            <a:r>
              <a:rPr lang="en-US" sz="1150" dirty="0">
                <a:solidFill>
                  <a:srgbClr val="2B2B2B"/>
                </a:solidFill>
                <a:latin typeface="Calibri" pitchFamily="34" charset="0"/>
                <a:ea typeface="Calibri" pitchFamily="34" charset="-122"/>
                <a:cs typeface="Calibri" pitchFamily="34" charset="-120"/>
              </a:rPr>
              <a:t>•  Wrong PIN and insufficient balance failures may be user-side. Pre-payment guidance could help, but this needs testing.</a:t>
            </a:r>
            <a:endParaRPr lang="en-US" sz="1150" dirty="0"/>
          </a:p>
          <a:p>
            <a:pPr indent="0" marL="0">
              <a:buNone/>
            </a:pPr>
            <a:endParaRPr lang="en-US" sz="1150" dirty="0"/>
          </a:p>
          <a:p>
            <a:pPr indent="0" marL="0">
              <a:buNone/>
            </a:pPr>
            <a:r>
              <a:rPr lang="en-US" sz="1150" dirty="0">
                <a:solidFill>
                  <a:srgbClr val="2B2B2B"/>
                </a:solidFill>
                <a:latin typeface="Calibri" pitchFamily="34" charset="0"/>
                <a:ea typeface="Calibri" pitchFamily="34" charset="-122"/>
                <a:cs typeface="Calibri" pitchFamily="34" charset="-120"/>
              </a:rPr>
              <a:t>•  Consistent failure mix across services suggests a shared cause rather than a service-specific one.</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4B1D6E"/>
          </a:solidFill>
          <a:ln w="12700">
            <a:solidFill>
              <a:srgbClr val="4B1D6E"/>
            </a:solidFill>
            <a:prstDash val="solid"/>
          </a:ln>
        </p:spPr>
      </p:sp>
      <p:sp>
        <p:nvSpPr>
          <p:cNvPr id="3" name="Text 1"/>
          <p:cNvSpPr txBox="1"/>
          <p:nvPr/>
        </p:nvSpPr>
        <p:spPr>
          <a:xfrm>
            <a:off x="457200" y="274320"/>
            <a:ext cx="8229600" cy="502920"/>
          </a:xfrm>
          <a:prstGeom prst="rect">
            <a:avLst/>
          </a:prstGeom>
          <a:noFill/>
          <a:ln/>
        </p:spPr>
        <p:txBody>
          <a:bodyPr wrap="square" lIns="0" tIns="0" rIns="0" bIns="0" rtlCol="0" anchor="ctr"/>
          <a:lstStyle/>
          <a:p>
            <a:pPr indent="0" marL="0">
              <a:buNone/>
            </a:pPr>
            <a:r>
              <a:rPr lang="en-US" sz="2400" b="1" dirty="0">
                <a:solidFill>
                  <a:srgbClr val="4B1D6E"/>
                </a:solidFill>
                <a:latin typeface="Calibri" pitchFamily="34" charset="0"/>
                <a:ea typeface="Calibri" pitchFamily="34" charset="-122"/>
                <a:cs typeface="Calibri" pitchFamily="34" charset="-120"/>
              </a:rPr>
              <a:t>Business Recommendations</a:t>
            </a:r>
            <a:endParaRPr lang="en-US" sz="2400" dirty="0"/>
          </a:p>
        </p:txBody>
      </p:sp>
      <p:sp>
        <p:nvSpPr>
          <p:cNvPr id="4" name="Text 2"/>
          <p:cNvSpPr txBox="1"/>
          <p:nvPr/>
        </p:nvSpPr>
        <p:spPr>
          <a:xfrm>
            <a:off x="457200" y="777240"/>
            <a:ext cx="8229600" cy="32004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Actions linked to the evidence, with suggested priority and metric to monitor</a:t>
            </a:r>
            <a:endParaRPr lang="en-US" sz="1300" dirty="0"/>
          </a:p>
        </p:txBody>
      </p:sp>
      <p:sp>
        <p:nvSpPr>
          <p:cNvPr id="5" name="Text 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PhonePe Transaction Analysis  |  15</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914400"/>
                <a:gridCol w="2651760"/>
                <a:gridCol w="2926080"/>
                <a:gridCol w="1737360"/>
              </a:tblGrid>
              <a:tr h="54864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Priority</a:t>
                      </a:r>
                      <a:endParaRPr lang="en-US" sz="105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4B1D6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Issue or opportunity</a:t>
                      </a:r>
                      <a:endParaRPr lang="en-US" sz="105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4B1D6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Recommended action</a:t>
                      </a:r>
                      <a:endParaRPr lang="en-US" sz="105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4B1D6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Metric to monitor</a:t>
                      </a:r>
                      <a:endParaRPr lang="en-US" sz="105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4B1D6E"/>
                    </a:solidFill>
                  </a:tcPr>
                </a:tc>
              </a:tr>
              <a:tr h="548640">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High</a:t>
                      </a:r>
                      <a:endParaRPr lang="en-US" sz="105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Server errors are a major failure reason in every service</a:t>
                      </a:r>
                      <a:endParaRPr lang="en-US" sz="105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Investigate root cause with the technical team and add error monitoring</a:t>
                      </a:r>
                      <a:endParaRPr lang="en-US" sz="105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Server-error share of failures</a:t>
                      </a:r>
                      <a:endParaRPr lang="en-US" sz="105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r>
              <a:tr h="548640">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High</a:t>
                      </a:r>
                      <a:endParaRPr lang="en-US" sz="105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Money Transfer has the most failures</a:t>
                      </a:r>
                      <a:endParaRPr lang="en-US" sz="105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Review failed transfer flows and retry paths</a:t>
                      </a:r>
                      <a:endParaRPr lang="en-US" sz="105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Money Transfer success rate</a:t>
                      </a:r>
                      <a:endParaRPr lang="en-US" sz="105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r>
              <a:tr h="548640">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Medium</a:t>
                      </a:r>
                      <a:endParaRPr lang="en-US" sz="105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Wrong PIN and insufficient balance failures are common</a:t>
                      </a:r>
                      <a:endParaRPr lang="en-US" sz="105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Add clear pre-payment prompts and error messages</a:t>
                      </a:r>
                      <a:endParaRPr lang="en-US" sz="105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Failure rate by reason</a:t>
                      </a:r>
                      <a:endParaRPr lang="en-US" sz="105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r>
              <a:tr h="548640">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Medium</a:t>
                      </a:r>
                      <a:endParaRPr lang="en-US" sz="105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Loans carry the largest value</a:t>
                      </a:r>
                      <a:endParaRPr lang="en-US" sz="105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Track loan success rate and value monthly</a:t>
                      </a:r>
                      <a:endParaRPr lang="en-US" sz="105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Loan value and success rate</a:t>
                      </a:r>
                      <a:endParaRPr lang="en-US" sz="105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r>
              <a:tr h="548640">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Low</a:t>
                      </a:r>
                      <a:endParaRPr lang="en-US" sz="105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Manual reporting takes time</a:t>
                      </a:r>
                      <a:endParaRPr lang="en-US" sz="105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Schedule regular data refresh for the dashboard</a:t>
                      </a:r>
                      <a:endParaRPr lang="en-US" sz="105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Calibri" pitchFamily="34" charset="0"/>
                          <a:ea typeface="Calibri" pitchFamily="34" charset="-122"/>
                          <a:cs typeface="Calibri" pitchFamily="34" charset="-120"/>
                        </a:rPr>
                        <a:t>Refresh timeliness</a:t>
                      </a:r>
                      <a:endParaRPr lang="en-US" sz="105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4B1D6E"/>
          </a:solidFill>
          <a:ln w="12700">
            <a:solidFill>
              <a:srgbClr val="4B1D6E"/>
            </a:solidFill>
            <a:prstDash val="solid"/>
          </a:ln>
        </p:spPr>
      </p:sp>
      <p:sp>
        <p:nvSpPr>
          <p:cNvPr id="3" name="Text 1"/>
          <p:cNvSpPr txBox="1"/>
          <p:nvPr/>
        </p:nvSpPr>
        <p:spPr>
          <a:xfrm>
            <a:off x="457200" y="274320"/>
            <a:ext cx="8229600" cy="502920"/>
          </a:xfrm>
          <a:prstGeom prst="rect">
            <a:avLst/>
          </a:prstGeom>
          <a:noFill/>
          <a:ln/>
        </p:spPr>
        <p:txBody>
          <a:bodyPr wrap="square" lIns="0" tIns="0" rIns="0" bIns="0" rtlCol="0" anchor="ctr"/>
          <a:lstStyle/>
          <a:p>
            <a:pPr indent="0" marL="0">
              <a:buNone/>
            </a:pPr>
            <a:r>
              <a:rPr lang="en-US" sz="2400" b="1" dirty="0">
                <a:solidFill>
                  <a:srgbClr val="4B1D6E"/>
                </a:solidFill>
                <a:latin typeface="Calibri" pitchFamily="34" charset="0"/>
                <a:ea typeface="Calibri" pitchFamily="34" charset="-122"/>
                <a:cs typeface="Calibri" pitchFamily="34" charset="-120"/>
              </a:rPr>
              <a:t>Business Impact</a:t>
            </a:r>
            <a:endParaRPr lang="en-US" sz="2400" dirty="0"/>
          </a:p>
        </p:txBody>
      </p:sp>
      <p:sp>
        <p:nvSpPr>
          <p:cNvPr id="4" name="Text 2"/>
          <p:cNvSpPr txBox="1"/>
          <p:nvPr/>
        </p:nvSpPr>
        <p:spPr>
          <a:xfrm>
            <a:off x="457200" y="777240"/>
            <a:ext cx="8229600" cy="32004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Demonstrated project outcomes versus potential benefits</a:t>
            </a:r>
            <a:endParaRPr lang="en-US" sz="1300" dirty="0"/>
          </a:p>
        </p:txBody>
      </p:sp>
      <p:sp>
        <p:nvSpPr>
          <p:cNvPr id="5" name="Text 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PhonePe Transaction Analysis  |  16</a:t>
            </a:r>
            <a:endParaRPr lang="en-US" sz="900" dirty="0"/>
          </a:p>
        </p:txBody>
      </p:sp>
      <p:sp>
        <p:nvSpPr>
          <p:cNvPr id="6" name="Shape 4"/>
          <p:cNvSpPr/>
          <p:nvPr/>
        </p:nvSpPr>
        <p:spPr>
          <a:xfrm>
            <a:off x="457200" y="1280160"/>
            <a:ext cx="4023360" cy="3291840"/>
          </a:xfrm>
          <a:prstGeom prst="rect">
            <a:avLst/>
          </a:prstGeom>
          <a:solidFill>
            <a:srgbClr val="F6EEF9"/>
          </a:solidFill>
          <a:ln w="9525">
            <a:solidFill>
              <a:srgbClr val="D9C6E4"/>
            </a:solidFill>
            <a:prstDash val="solid"/>
          </a:ln>
        </p:spPr>
      </p:sp>
      <p:sp>
        <p:nvSpPr>
          <p:cNvPr id="7" name="Shape 5"/>
          <p:cNvSpPr/>
          <p:nvPr/>
        </p:nvSpPr>
        <p:spPr>
          <a:xfrm>
            <a:off x="457200" y="1280160"/>
            <a:ext cx="64008" cy="3291840"/>
          </a:xfrm>
          <a:prstGeom prst="rect">
            <a:avLst/>
          </a:prstGeom>
          <a:solidFill>
            <a:srgbClr val="A23B82"/>
          </a:solidFill>
          <a:ln w="12700">
            <a:solidFill>
              <a:srgbClr val="A23B82"/>
            </a:solidFill>
            <a:prstDash val="solid"/>
          </a:ln>
        </p:spPr>
      </p:sp>
      <p:sp>
        <p:nvSpPr>
          <p:cNvPr id="8" name="Text 6"/>
          <p:cNvSpPr txBox="1"/>
          <p:nvPr/>
        </p:nvSpPr>
        <p:spPr>
          <a:xfrm>
            <a:off x="640080" y="1353312"/>
            <a:ext cx="3749040" cy="320040"/>
          </a:xfrm>
          <a:prstGeom prst="rect">
            <a:avLst/>
          </a:prstGeom>
          <a:noFill/>
          <a:ln/>
        </p:spPr>
        <p:txBody>
          <a:bodyPr wrap="square" lIns="0" tIns="0" rIns="0" bIns="0" rtlCol="0" anchor="ctr"/>
          <a:lstStyle/>
          <a:p>
            <a:pPr indent="0" marL="0">
              <a:buNone/>
            </a:pPr>
            <a:r>
              <a:rPr lang="en-US" sz="1400" b="1" dirty="0">
                <a:solidFill>
                  <a:srgbClr val="4B1D6E"/>
                </a:solidFill>
                <a:latin typeface="Calibri" pitchFamily="34" charset="0"/>
                <a:ea typeface="Calibri" pitchFamily="34" charset="-122"/>
                <a:cs typeface="Calibri" pitchFamily="34" charset="-120"/>
              </a:rPr>
              <a:t>Demonstrated in this project</a:t>
            </a:r>
            <a:endParaRPr lang="en-US" sz="1400" dirty="0"/>
          </a:p>
        </p:txBody>
      </p:sp>
      <p:sp>
        <p:nvSpPr>
          <p:cNvPr id="9" name="Text 7"/>
          <p:cNvSpPr txBox="1"/>
          <p:nvPr/>
        </p:nvSpPr>
        <p:spPr>
          <a:xfrm>
            <a:off x="640080" y="1691640"/>
            <a:ext cx="3749040" cy="2788920"/>
          </a:xfrm>
          <a:prstGeom prst="rect">
            <a:avLst/>
          </a:prstGeom>
          <a:noFill/>
          <a:ln/>
        </p:spPr>
        <p:txBody>
          <a:bodyPr wrap="square" lIns="0" tIns="0" rIns="0" bIns="0" rtlCol="0" anchor="t"/>
          <a:lstStyle/>
          <a:p>
            <a:pPr indent="0" marL="0">
              <a:buNone/>
            </a:pPr>
            <a:r>
              <a:rPr lang="en-US" sz="1150" dirty="0">
                <a:solidFill>
                  <a:srgbClr val="2B2B2B"/>
                </a:solidFill>
                <a:latin typeface="Calibri" pitchFamily="34" charset="0"/>
                <a:ea typeface="Calibri" pitchFamily="34" charset="-122"/>
                <a:cs typeface="Calibri" pitchFamily="34" charset="-120"/>
              </a:rPr>
              <a:t>•  One interactive dashboard covering four services and their payment status.</a:t>
            </a:r>
            <a:endParaRPr lang="en-US" sz="1150" dirty="0"/>
          </a:p>
          <a:p>
            <a:pPr indent="0" marL="0">
              <a:buNone/>
            </a:pPr>
            <a:endParaRPr lang="en-US" sz="1150" dirty="0"/>
          </a:p>
          <a:p>
            <a:pPr indent="0" marL="0">
              <a:buNone/>
            </a:pPr>
            <a:r>
              <a:rPr lang="en-US" sz="1150" dirty="0">
                <a:solidFill>
                  <a:srgbClr val="2B2B2B"/>
                </a:solidFill>
                <a:latin typeface="Calibri" pitchFamily="34" charset="0"/>
                <a:ea typeface="Calibri" pitchFamily="34" charset="-122"/>
                <a:cs typeface="Calibri" pitchFamily="34" charset="-120"/>
              </a:rPr>
              <a:t>•  KPI cards and breakdowns in one place, filterable by date range.</a:t>
            </a:r>
            <a:endParaRPr lang="en-US" sz="1150" dirty="0"/>
          </a:p>
          <a:p>
            <a:pPr indent="0" marL="0">
              <a:buNone/>
            </a:pPr>
            <a:endParaRPr lang="en-US" sz="1150" dirty="0"/>
          </a:p>
          <a:p>
            <a:pPr indent="0" marL="0">
              <a:buNone/>
            </a:pPr>
            <a:r>
              <a:rPr lang="en-US" sz="1150" dirty="0">
                <a:solidFill>
                  <a:srgbClr val="2B2B2B"/>
                </a:solidFill>
                <a:latin typeface="Calibri" pitchFamily="34" charset="0"/>
                <a:ea typeface="Calibri" pitchFamily="34" charset="-122"/>
                <a:cs typeface="Calibri" pitchFamily="34" charset="-120"/>
              </a:rPr>
              <a:t>•  Data checked for missing values, duplicates and key links before analysis.</a:t>
            </a:r>
            <a:endParaRPr lang="en-US" sz="1150" dirty="0"/>
          </a:p>
          <a:p>
            <a:pPr indent="0" marL="0">
              <a:buNone/>
            </a:pPr>
            <a:endParaRPr lang="en-US" sz="1150" dirty="0"/>
          </a:p>
          <a:p>
            <a:pPr indent="0" marL="0">
              <a:buNone/>
            </a:pPr>
            <a:r>
              <a:rPr lang="en-US" sz="1150" dirty="0">
                <a:solidFill>
                  <a:srgbClr val="2B2B2B"/>
                </a:solidFill>
                <a:latin typeface="Calibri" pitchFamily="34" charset="0"/>
                <a:ea typeface="Calibri" pitchFamily="34" charset="-122"/>
                <a:cs typeface="Calibri" pitchFamily="34" charset="-120"/>
              </a:rPr>
              <a:t>•  Findings and recommendations documented for stakeholders.</a:t>
            </a:r>
            <a:endParaRPr lang="en-US" sz="1150" dirty="0"/>
          </a:p>
        </p:txBody>
      </p:sp>
      <p:sp>
        <p:nvSpPr>
          <p:cNvPr id="10" name="Shape 8"/>
          <p:cNvSpPr/>
          <p:nvPr/>
        </p:nvSpPr>
        <p:spPr>
          <a:xfrm>
            <a:off x="4663440" y="1280160"/>
            <a:ext cx="4023360" cy="3291840"/>
          </a:xfrm>
          <a:prstGeom prst="rect">
            <a:avLst/>
          </a:prstGeom>
          <a:solidFill>
            <a:srgbClr val="F6EEF9"/>
          </a:solidFill>
          <a:ln w="9525">
            <a:solidFill>
              <a:srgbClr val="D9C6E4"/>
            </a:solidFill>
            <a:prstDash val="solid"/>
          </a:ln>
        </p:spPr>
      </p:sp>
      <p:sp>
        <p:nvSpPr>
          <p:cNvPr id="11" name="Shape 9"/>
          <p:cNvSpPr/>
          <p:nvPr/>
        </p:nvSpPr>
        <p:spPr>
          <a:xfrm>
            <a:off x="4663440" y="1280160"/>
            <a:ext cx="64008" cy="3291840"/>
          </a:xfrm>
          <a:prstGeom prst="rect">
            <a:avLst/>
          </a:prstGeom>
          <a:solidFill>
            <a:srgbClr val="A23B82"/>
          </a:solidFill>
          <a:ln w="12700">
            <a:solidFill>
              <a:srgbClr val="A23B82"/>
            </a:solidFill>
            <a:prstDash val="solid"/>
          </a:ln>
        </p:spPr>
      </p:sp>
      <p:sp>
        <p:nvSpPr>
          <p:cNvPr id="12" name="Text 10"/>
          <p:cNvSpPr txBox="1"/>
          <p:nvPr/>
        </p:nvSpPr>
        <p:spPr>
          <a:xfrm>
            <a:off x="4846320" y="1353312"/>
            <a:ext cx="3749040" cy="320040"/>
          </a:xfrm>
          <a:prstGeom prst="rect">
            <a:avLst/>
          </a:prstGeom>
          <a:noFill/>
          <a:ln/>
        </p:spPr>
        <p:txBody>
          <a:bodyPr wrap="square" lIns="0" tIns="0" rIns="0" bIns="0" rtlCol="0" anchor="ctr"/>
          <a:lstStyle/>
          <a:p>
            <a:pPr indent="0" marL="0">
              <a:buNone/>
            </a:pPr>
            <a:r>
              <a:rPr lang="en-US" sz="1400" b="1" dirty="0">
                <a:solidFill>
                  <a:srgbClr val="4B1D6E"/>
                </a:solidFill>
                <a:latin typeface="Calibri" pitchFamily="34" charset="0"/>
                <a:ea typeface="Calibri" pitchFamily="34" charset="-122"/>
                <a:cs typeface="Calibri" pitchFamily="34" charset="-120"/>
              </a:rPr>
              <a:t>Potential benefits (not yet measured)</a:t>
            </a:r>
            <a:endParaRPr lang="en-US" sz="1400" dirty="0"/>
          </a:p>
        </p:txBody>
      </p:sp>
      <p:sp>
        <p:nvSpPr>
          <p:cNvPr id="13" name="Text 11"/>
          <p:cNvSpPr txBox="1"/>
          <p:nvPr/>
        </p:nvSpPr>
        <p:spPr>
          <a:xfrm>
            <a:off x="4846320" y="1691640"/>
            <a:ext cx="3749040" cy="2788920"/>
          </a:xfrm>
          <a:prstGeom prst="rect">
            <a:avLst/>
          </a:prstGeom>
          <a:noFill/>
          <a:ln/>
        </p:spPr>
        <p:txBody>
          <a:bodyPr wrap="square" lIns="0" tIns="0" rIns="0" bIns="0" rtlCol="0" anchor="t"/>
          <a:lstStyle/>
          <a:p>
            <a:pPr indent="0" marL="0">
              <a:buNone/>
            </a:pPr>
            <a:r>
              <a:rPr lang="en-US" sz="1150" dirty="0">
                <a:solidFill>
                  <a:srgbClr val="2B2B2B"/>
                </a:solidFill>
                <a:latin typeface="Calibri" pitchFamily="34" charset="0"/>
                <a:ea typeface="Calibri" pitchFamily="34" charset="-122"/>
                <a:cs typeface="Calibri" pitchFamily="34" charset="-120"/>
              </a:rPr>
              <a:t>•  Faster identification of payment failures.</a:t>
            </a:r>
            <a:endParaRPr lang="en-US" sz="1150" dirty="0"/>
          </a:p>
          <a:p>
            <a:pPr indent="0" marL="0">
              <a:buNone/>
            </a:pPr>
            <a:endParaRPr lang="en-US" sz="1150" dirty="0"/>
          </a:p>
          <a:p>
            <a:pPr indent="0" marL="0">
              <a:buNone/>
            </a:pPr>
            <a:r>
              <a:rPr lang="en-US" sz="1150" dirty="0">
                <a:solidFill>
                  <a:srgbClr val="2B2B2B"/>
                </a:solidFill>
                <a:latin typeface="Calibri" pitchFamily="34" charset="0"/>
                <a:ea typeface="Calibri" pitchFamily="34" charset="-122"/>
                <a:cs typeface="Calibri" pitchFamily="34" charset="-120"/>
              </a:rPr>
              <a:t>•  Better monitoring of KPIs by service.</a:t>
            </a:r>
            <a:endParaRPr lang="en-US" sz="1150" dirty="0"/>
          </a:p>
          <a:p>
            <a:pPr indent="0" marL="0">
              <a:buNone/>
            </a:pPr>
            <a:endParaRPr lang="en-US" sz="1150" dirty="0"/>
          </a:p>
          <a:p>
            <a:pPr indent="0" marL="0">
              <a:buNone/>
            </a:pPr>
            <a:r>
              <a:rPr lang="en-US" sz="1150" dirty="0">
                <a:solidFill>
                  <a:srgbClr val="2B2B2B"/>
                </a:solidFill>
                <a:latin typeface="Calibri" pitchFamily="34" charset="0"/>
                <a:ea typeface="Calibri" pitchFamily="34" charset="-122"/>
                <a:cs typeface="Calibri" pitchFamily="34" charset="-120"/>
              </a:rPr>
              <a:t>•  More informed decisions on reliability and user experience.</a:t>
            </a:r>
            <a:endParaRPr lang="en-US" sz="1150" dirty="0"/>
          </a:p>
          <a:p>
            <a:pPr indent="0" marL="0">
              <a:buNone/>
            </a:pPr>
            <a:endParaRPr lang="en-US" sz="1150" dirty="0"/>
          </a:p>
          <a:p>
            <a:pPr indent="0" marL="0">
              <a:buNone/>
            </a:pPr>
            <a:r>
              <a:rPr lang="en-US" sz="1150" dirty="0">
                <a:solidFill>
                  <a:srgbClr val="2B2B2B"/>
                </a:solidFill>
                <a:latin typeface="Calibri" pitchFamily="34" charset="0"/>
                <a:ea typeface="Calibri" pitchFamily="34" charset="-122"/>
                <a:cs typeface="Calibri" pitchFamily="34" charset="-120"/>
              </a:rPr>
              <a:t>•  Easier exploration of transaction trends.</a:t>
            </a:r>
            <a:endParaRPr lang="en-US" sz="1150" dirty="0"/>
          </a:p>
          <a:p>
            <a:pPr indent="0" marL="0">
              <a:buNone/>
            </a:pPr>
            <a:endParaRPr lang="en-US" sz="1150" dirty="0"/>
          </a:p>
          <a:p>
            <a:pPr indent="0" marL="0">
              <a:buNone/>
            </a:pPr>
            <a:r>
              <a:rPr lang="en-US" sz="1150" dirty="0">
                <a:solidFill>
                  <a:srgbClr val="2B2B2B"/>
                </a:solidFill>
                <a:latin typeface="Calibri" pitchFamily="34" charset="0"/>
                <a:ea typeface="Calibri" pitchFamily="34" charset="-122"/>
                <a:cs typeface="Calibri" pitchFamily="34" charset="-120"/>
              </a:rPr>
              <a:t>No revenue growth, cost savings or success-rate improvement is claimed.</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4B1D6E"/>
          </a:solidFill>
          <a:ln w="12700">
            <a:solidFill>
              <a:srgbClr val="4B1D6E"/>
            </a:solidFill>
            <a:prstDash val="solid"/>
          </a:ln>
        </p:spPr>
      </p:sp>
      <p:sp>
        <p:nvSpPr>
          <p:cNvPr id="3" name="Text 1"/>
          <p:cNvSpPr txBox="1"/>
          <p:nvPr/>
        </p:nvSpPr>
        <p:spPr>
          <a:xfrm>
            <a:off x="457200" y="274320"/>
            <a:ext cx="8229600" cy="502920"/>
          </a:xfrm>
          <a:prstGeom prst="rect">
            <a:avLst/>
          </a:prstGeom>
          <a:noFill/>
          <a:ln/>
        </p:spPr>
        <p:txBody>
          <a:bodyPr wrap="square" lIns="0" tIns="0" rIns="0" bIns="0" rtlCol="0" anchor="ctr"/>
          <a:lstStyle/>
          <a:p>
            <a:pPr indent="0" marL="0">
              <a:buNone/>
            </a:pPr>
            <a:r>
              <a:rPr lang="en-US" sz="2400" b="1" dirty="0">
                <a:solidFill>
                  <a:srgbClr val="4B1D6E"/>
                </a:solidFill>
                <a:latin typeface="Calibri" pitchFamily="34" charset="0"/>
                <a:ea typeface="Calibri" pitchFamily="34" charset="-122"/>
                <a:cs typeface="Calibri" pitchFamily="34" charset="-120"/>
              </a:rPr>
              <a:t>Limitations and Future Enhancements</a:t>
            </a:r>
            <a:endParaRPr lang="en-US" sz="2400" dirty="0"/>
          </a:p>
        </p:txBody>
      </p:sp>
      <p:sp>
        <p:nvSpPr>
          <p:cNvPr id="4" name="Text 2"/>
          <p:cNvSpPr txBox="1"/>
          <p:nvPr/>
        </p:nvSpPr>
        <p:spPr>
          <a:xfrm>
            <a:off x="457200" y="777240"/>
            <a:ext cx="8229600" cy="32004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Honest scope of the current analysis, and next steps</a:t>
            </a:r>
            <a:endParaRPr lang="en-US" sz="1300" dirty="0"/>
          </a:p>
        </p:txBody>
      </p:sp>
      <p:sp>
        <p:nvSpPr>
          <p:cNvPr id="5" name="Text 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PhonePe Transaction Analysis  |  17</a:t>
            </a:r>
            <a:endParaRPr lang="en-US" sz="900" dirty="0"/>
          </a:p>
        </p:txBody>
      </p:sp>
      <p:sp>
        <p:nvSpPr>
          <p:cNvPr id="6" name="Shape 4"/>
          <p:cNvSpPr/>
          <p:nvPr/>
        </p:nvSpPr>
        <p:spPr>
          <a:xfrm>
            <a:off x="457200" y="1280160"/>
            <a:ext cx="4023360" cy="3291840"/>
          </a:xfrm>
          <a:prstGeom prst="rect">
            <a:avLst/>
          </a:prstGeom>
          <a:solidFill>
            <a:srgbClr val="F6EEF9"/>
          </a:solidFill>
          <a:ln w="9525">
            <a:solidFill>
              <a:srgbClr val="D9C6E4"/>
            </a:solidFill>
            <a:prstDash val="solid"/>
          </a:ln>
        </p:spPr>
      </p:sp>
      <p:sp>
        <p:nvSpPr>
          <p:cNvPr id="7" name="Shape 5"/>
          <p:cNvSpPr/>
          <p:nvPr/>
        </p:nvSpPr>
        <p:spPr>
          <a:xfrm>
            <a:off x="457200" y="1280160"/>
            <a:ext cx="64008" cy="3291840"/>
          </a:xfrm>
          <a:prstGeom prst="rect">
            <a:avLst/>
          </a:prstGeom>
          <a:solidFill>
            <a:srgbClr val="A23B82"/>
          </a:solidFill>
          <a:ln w="12700">
            <a:solidFill>
              <a:srgbClr val="A23B82"/>
            </a:solidFill>
            <a:prstDash val="solid"/>
          </a:ln>
        </p:spPr>
      </p:sp>
      <p:sp>
        <p:nvSpPr>
          <p:cNvPr id="8" name="Text 6"/>
          <p:cNvSpPr txBox="1"/>
          <p:nvPr/>
        </p:nvSpPr>
        <p:spPr>
          <a:xfrm>
            <a:off x="640080" y="1353312"/>
            <a:ext cx="3749040" cy="320040"/>
          </a:xfrm>
          <a:prstGeom prst="rect">
            <a:avLst/>
          </a:prstGeom>
          <a:noFill/>
          <a:ln/>
        </p:spPr>
        <p:txBody>
          <a:bodyPr wrap="square" lIns="0" tIns="0" rIns="0" bIns="0" rtlCol="0" anchor="ctr"/>
          <a:lstStyle/>
          <a:p>
            <a:pPr indent="0" marL="0">
              <a:buNone/>
            </a:pPr>
            <a:r>
              <a:rPr lang="en-US" sz="1400" b="1" dirty="0">
                <a:solidFill>
                  <a:srgbClr val="4B1D6E"/>
                </a:solidFill>
                <a:latin typeface="Calibri" pitchFamily="34" charset="0"/>
                <a:ea typeface="Calibri" pitchFamily="34" charset="-122"/>
                <a:cs typeface="Calibri" pitchFamily="34" charset="-120"/>
              </a:rPr>
              <a:t>Limitations</a:t>
            </a:r>
            <a:endParaRPr lang="en-US" sz="1400" dirty="0"/>
          </a:p>
        </p:txBody>
      </p:sp>
      <p:sp>
        <p:nvSpPr>
          <p:cNvPr id="9" name="Text 7"/>
          <p:cNvSpPr txBox="1"/>
          <p:nvPr/>
        </p:nvSpPr>
        <p:spPr>
          <a:xfrm>
            <a:off x="640080" y="1691640"/>
            <a:ext cx="3749040" cy="2788920"/>
          </a:xfrm>
          <a:prstGeom prst="rect">
            <a:avLst/>
          </a:prstGeom>
          <a:noFill/>
          <a:ln/>
        </p:spPr>
        <p:txBody>
          <a:bodyPr wrap="square" lIns="0" tIns="0" rIns="0" bIns="0" rtlCol="0" anchor="t"/>
          <a:lstStyle/>
          <a:p>
            <a:pPr indent="0" marL="0">
              <a:buNone/>
            </a:pPr>
            <a:r>
              <a:rPr lang="en-US" sz="1150" dirty="0">
                <a:solidFill>
                  <a:srgbClr val="2B2B2B"/>
                </a:solidFill>
                <a:latin typeface="Calibri" pitchFamily="34" charset="0"/>
                <a:ea typeface="Calibri" pitchFamily="34" charset="-122"/>
                <a:cs typeface="Calibri" pitchFamily="34" charset="-120"/>
              </a:rPr>
              <a:t>•  Dataset provenance is not verified as official PhonePe data.</a:t>
            </a:r>
            <a:endParaRPr lang="en-US" sz="1150" dirty="0"/>
          </a:p>
          <a:p>
            <a:pPr indent="0" marL="0">
              <a:buNone/>
            </a:pPr>
            <a:endParaRPr lang="en-US" sz="1150" dirty="0"/>
          </a:p>
          <a:p>
            <a:pPr indent="0" marL="0">
              <a:buNone/>
            </a:pPr>
            <a:r>
              <a:rPr lang="en-US" sz="1150" dirty="0">
                <a:solidFill>
                  <a:srgbClr val="2B2B2B"/>
                </a:solidFill>
                <a:latin typeface="Calibri" pitchFamily="34" charset="0"/>
                <a:ea typeface="Calibri" pitchFamily="34" charset="-122"/>
                <a:cs typeface="Calibri" pitchFamily="34" charset="-120"/>
              </a:rPr>
              <a:t>•  Covers 2024 only.</a:t>
            </a:r>
            <a:endParaRPr lang="en-US" sz="1150" dirty="0"/>
          </a:p>
          <a:p>
            <a:pPr indent="0" marL="0">
              <a:buNone/>
            </a:pPr>
            <a:endParaRPr lang="en-US" sz="1150" dirty="0"/>
          </a:p>
          <a:p>
            <a:pPr indent="0" marL="0">
              <a:buNone/>
            </a:pPr>
            <a:r>
              <a:rPr lang="en-US" sz="1150" dirty="0">
                <a:solidFill>
                  <a:srgbClr val="2B2B2B"/>
                </a:solidFill>
                <a:latin typeface="Calibri" pitchFamily="34" charset="0"/>
                <a:ea typeface="Calibri" pitchFamily="34" charset="-122"/>
                <a:cs typeface="Calibri" pitchFamily="34" charset="-120"/>
              </a:rPr>
              <a:t>•  Some dashboard cards show successful-only values, others all statuses.</a:t>
            </a:r>
            <a:endParaRPr lang="en-US" sz="1150" dirty="0"/>
          </a:p>
          <a:p>
            <a:pPr indent="0" marL="0">
              <a:buNone/>
            </a:pPr>
            <a:endParaRPr lang="en-US" sz="1150" dirty="0"/>
          </a:p>
          <a:p>
            <a:pPr indent="0" marL="0">
              <a:buNone/>
            </a:pPr>
            <a:r>
              <a:rPr lang="en-US" sz="1150" dirty="0">
                <a:solidFill>
                  <a:srgbClr val="2B2B2B"/>
                </a:solidFill>
                <a:latin typeface="Calibri" pitchFamily="34" charset="0"/>
                <a:ea typeface="Calibri" pitchFamily="34" charset="-122"/>
                <a:cs typeface="Calibri" pitchFamily="34" charset="-120"/>
              </a:rPr>
              <a:t>•  Payment-status labels differ between the master table and the Money Transfer table for some records; to be reconciled.</a:t>
            </a:r>
            <a:endParaRPr lang="en-US" sz="1150" dirty="0"/>
          </a:p>
          <a:p>
            <a:pPr indent="0" marL="0">
              <a:buNone/>
            </a:pPr>
            <a:endParaRPr lang="en-US" sz="1150" dirty="0"/>
          </a:p>
          <a:p>
            <a:pPr indent="0" marL="0">
              <a:buNone/>
            </a:pPr>
            <a:r>
              <a:rPr lang="en-US" sz="1150" dirty="0">
                <a:solidFill>
                  <a:srgbClr val="2B2B2B"/>
                </a:solidFill>
                <a:latin typeface="Calibri" pitchFamily="34" charset="0"/>
                <a:ea typeface="Calibri" pitchFamily="34" charset="-122"/>
                <a:cs typeface="Calibri" pitchFamily="34" charset="-120"/>
              </a:rPr>
              <a:t>•  Monthly trend charts are excluded from this report pending reconciliation.</a:t>
            </a:r>
            <a:endParaRPr lang="en-US" sz="1150" dirty="0"/>
          </a:p>
        </p:txBody>
      </p:sp>
      <p:sp>
        <p:nvSpPr>
          <p:cNvPr id="10" name="Shape 8"/>
          <p:cNvSpPr/>
          <p:nvPr/>
        </p:nvSpPr>
        <p:spPr>
          <a:xfrm>
            <a:off x="4663440" y="1280160"/>
            <a:ext cx="4023360" cy="3291840"/>
          </a:xfrm>
          <a:prstGeom prst="rect">
            <a:avLst/>
          </a:prstGeom>
          <a:solidFill>
            <a:srgbClr val="F6EEF9"/>
          </a:solidFill>
          <a:ln w="9525">
            <a:solidFill>
              <a:srgbClr val="D9C6E4"/>
            </a:solidFill>
            <a:prstDash val="solid"/>
          </a:ln>
        </p:spPr>
      </p:sp>
      <p:sp>
        <p:nvSpPr>
          <p:cNvPr id="11" name="Shape 9"/>
          <p:cNvSpPr/>
          <p:nvPr/>
        </p:nvSpPr>
        <p:spPr>
          <a:xfrm>
            <a:off x="4663440" y="1280160"/>
            <a:ext cx="64008" cy="3291840"/>
          </a:xfrm>
          <a:prstGeom prst="rect">
            <a:avLst/>
          </a:prstGeom>
          <a:solidFill>
            <a:srgbClr val="A23B82"/>
          </a:solidFill>
          <a:ln w="12700">
            <a:solidFill>
              <a:srgbClr val="A23B82"/>
            </a:solidFill>
            <a:prstDash val="solid"/>
          </a:ln>
        </p:spPr>
      </p:sp>
      <p:sp>
        <p:nvSpPr>
          <p:cNvPr id="12" name="Text 10"/>
          <p:cNvSpPr txBox="1"/>
          <p:nvPr/>
        </p:nvSpPr>
        <p:spPr>
          <a:xfrm>
            <a:off x="4846320" y="1353312"/>
            <a:ext cx="3749040" cy="320040"/>
          </a:xfrm>
          <a:prstGeom prst="rect">
            <a:avLst/>
          </a:prstGeom>
          <a:noFill/>
          <a:ln/>
        </p:spPr>
        <p:txBody>
          <a:bodyPr wrap="square" lIns="0" tIns="0" rIns="0" bIns="0" rtlCol="0" anchor="ctr"/>
          <a:lstStyle/>
          <a:p>
            <a:pPr indent="0" marL="0">
              <a:buNone/>
            </a:pPr>
            <a:r>
              <a:rPr lang="en-US" sz="1400" b="1" dirty="0">
                <a:solidFill>
                  <a:srgbClr val="4B1D6E"/>
                </a:solidFill>
                <a:latin typeface="Calibri" pitchFamily="34" charset="0"/>
                <a:ea typeface="Calibri" pitchFamily="34" charset="-122"/>
                <a:cs typeface="Calibri" pitchFamily="34" charset="-120"/>
              </a:rPr>
              <a:t>Future enhancements</a:t>
            </a:r>
            <a:endParaRPr lang="en-US" sz="1400" dirty="0"/>
          </a:p>
        </p:txBody>
      </p:sp>
      <p:sp>
        <p:nvSpPr>
          <p:cNvPr id="13" name="Text 11"/>
          <p:cNvSpPr txBox="1"/>
          <p:nvPr/>
        </p:nvSpPr>
        <p:spPr>
          <a:xfrm>
            <a:off x="4846320" y="1691640"/>
            <a:ext cx="3749040" cy="2788920"/>
          </a:xfrm>
          <a:prstGeom prst="rect">
            <a:avLst/>
          </a:prstGeom>
          <a:noFill/>
          <a:ln/>
        </p:spPr>
        <p:txBody>
          <a:bodyPr wrap="square" lIns="0" tIns="0" rIns="0" bIns="0" rtlCol="0" anchor="t"/>
          <a:lstStyle/>
          <a:p>
            <a:pPr indent="0" marL="0">
              <a:buNone/>
            </a:pPr>
            <a:r>
              <a:rPr lang="en-US" sz="1150" dirty="0">
                <a:solidFill>
                  <a:srgbClr val="2B2B2B"/>
                </a:solidFill>
                <a:latin typeface="Calibri" pitchFamily="34" charset="0"/>
                <a:ea typeface="Calibri" pitchFamily="34" charset="-122"/>
                <a:cs typeface="Calibri" pitchFamily="34" charset="-120"/>
              </a:rPr>
              <a:t>•  Reconcile dashboard visuals with source data and document the logic.</a:t>
            </a:r>
            <a:endParaRPr lang="en-US" sz="1150" dirty="0"/>
          </a:p>
          <a:p>
            <a:pPr indent="0" marL="0">
              <a:buNone/>
            </a:pPr>
            <a:endParaRPr lang="en-US" sz="1150" dirty="0"/>
          </a:p>
          <a:p>
            <a:pPr indent="0" marL="0">
              <a:buNone/>
            </a:pPr>
            <a:r>
              <a:rPr lang="en-US" sz="1150" dirty="0">
                <a:solidFill>
                  <a:srgbClr val="2B2B2B"/>
                </a:solidFill>
                <a:latin typeface="Calibri" pitchFamily="34" charset="0"/>
                <a:ea typeface="Calibri" pitchFamily="34" charset="-122"/>
                <a:cs typeface="Calibri" pitchFamily="34" charset="-120"/>
              </a:rPr>
              <a:t>•  Add automated data refresh.</a:t>
            </a:r>
            <a:endParaRPr lang="en-US" sz="1150" dirty="0"/>
          </a:p>
          <a:p>
            <a:pPr indent="0" marL="0">
              <a:buNone/>
            </a:pPr>
            <a:endParaRPr lang="en-US" sz="1150" dirty="0"/>
          </a:p>
          <a:p>
            <a:pPr indent="0" marL="0">
              <a:buNone/>
            </a:pPr>
            <a:r>
              <a:rPr lang="en-US" sz="1150" dirty="0">
                <a:solidFill>
                  <a:srgbClr val="2B2B2B"/>
                </a:solidFill>
                <a:latin typeface="Calibri" pitchFamily="34" charset="0"/>
                <a:ea typeface="Calibri" pitchFamily="34" charset="-122"/>
                <a:cs typeface="Calibri" pitchFamily="34" charset="-120"/>
              </a:rPr>
              <a:t>•  Add monthly trend analysis once validated.</a:t>
            </a:r>
            <a:endParaRPr lang="en-US" sz="1150" dirty="0"/>
          </a:p>
          <a:p>
            <a:pPr indent="0" marL="0">
              <a:buNone/>
            </a:pPr>
            <a:endParaRPr lang="en-US" sz="1150" dirty="0"/>
          </a:p>
          <a:p>
            <a:pPr indent="0" marL="0">
              <a:buNone/>
            </a:pPr>
            <a:r>
              <a:rPr lang="en-US" sz="1150" dirty="0">
                <a:solidFill>
                  <a:srgbClr val="2B2B2B"/>
                </a:solidFill>
                <a:latin typeface="Calibri" pitchFamily="34" charset="0"/>
                <a:ea typeface="Calibri" pitchFamily="34" charset="-122"/>
                <a:cs typeface="Calibri" pitchFamily="34" charset="-120"/>
              </a:rPr>
              <a:t>•  Add anomaly detection for unusual transaction patterns.</a:t>
            </a:r>
            <a:endParaRPr lang="en-US" sz="1150" dirty="0"/>
          </a:p>
          <a:p>
            <a:pPr indent="0" marL="0">
              <a:buNone/>
            </a:pPr>
            <a:endParaRPr lang="en-US" sz="1150" dirty="0"/>
          </a:p>
          <a:p>
            <a:pPr indent="0" marL="0">
              <a:buNone/>
            </a:pPr>
            <a:r>
              <a:rPr lang="en-US" sz="1150" dirty="0">
                <a:solidFill>
                  <a:srgbClr val="2B2B2B"/>
                </a:solidFill>
                <a:latin typeface="Calibri" pitchFamily="34" charset="0"/>
                <a:ea typeface="Calibri" pitchFamily="34" charset="-122"/>
                <a:cs typeface="Calibri" pitchFamily="34" charset="-120"/>
              </a:rPr>
              <a:t>•  Segment users by age and join date.</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4B1D6E"/>
          </a:solidFill>
          <a:ln w="12700">
            <a:solidFill>
              <a:srgbClr val="4B1D6E"/>
            </a:solidFill>
            <a:prstDash val="solid"/>
          </a:ln>
        </p:spPr>
      </p:sp>
      <p:sp>
        <p:nvSpPr>
          <p:cNvPr id="3" name="Text 1"/>
          <p:cNvSpPr txBox="1"/>
          <p:nvPr/>
        </p:nvSpPr>
        <p:spPr>
          <a:xfrm>
            <a:off x="457200" y="274320"/>
            <a:ext cx="8229600" cy="502920"/>
          </a:xfrm>
          <a:prstGeom prst="rect">
            <a:avLst/>
          </a:prstGeom>
          <a:noFill/>
          <a:ln/>
        </p:spPr>
        <p:txBody>
          <a:bodyPr wrap="square" lIns="0" tIns="0" rIns="0" bIns="0" rtlCol="0" anchor="ctr"/>
          <a:lstStyle/>
          <a:p>
            <a:pPr indent="0" marL="0">
              <a:buNone/>
            </a:pPr>
            <a:r>
              <a:rPr lang="en-US" sz="2400" b="1" dirty="0">
                <a:solidFill>
                  <a:srgbClr val="4B1D6E"/>
                </a:solidFill>
                <a:latin typeface="Calibri" pitchFamily="34" charset="0"/>
                <a:ea typeface="Calibri" pitchFamily="34" charset="-122"/>
                <a:cs typeface="Calibri" pitchFamily="34" charset="-120"/>
              </a:rPr>
              <a:t>Conclusion and Skills Demonstrated</a:t>
            </a:r>
            <a:endParaRPr lang="en-US" sz="2400" dirty="0"/>
          </a:p>
        </p:txBody>
      </p:sp>
      <p:sp>
        <p:nvSpPr>
          <p:cNvPr id="4" name="Text 2"/>
          <p:cNvSpPr txBox="1"/>
          <p:nvPr/>
        </p:nvSpPr>
        <p:spPr>
          <a:xfrm>
            <a:off x="457200" y="777240"/>
            <a:ext cx="8229600" cy="320040"/>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What this project shows about my analytical capability</a:t>
            </a:r>
            <a:endParaRPr lang="en-US" sz="1300" dirty="0"/>
          </a:p>
        </p:txBody>
      </p:sp>
      <p:sp>
        <p:nvSpPr>
          <p:cNvPr id="5" name="Text 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PhonePe Transaction Analysis  |  18</a:t>
            </a:r>
            <a:endParaRPr lang="en-US" sz="900" dirty="0"/>
          </a:p>
        </p:txBody>
      </p:sp>
      <p:sp>
        <p:nvSpPr>
          <p:cNvPr id="6" name="Text 4"/>
          <p:cNvSpPr txBox="1"/>
          <p:nvPr/>
        </p:nvSpPr>
        <p:spPr>
          <a:xfrm>
            <a:off x="457200" y="1280160"/>
            <a:ext cx="8229600" cy="822960"/>
          </a:xfrm>
          <a:prstGeom prst="rect">
            <a:avLst/>
          </a:prstGeom>
          <a:noFill/>
          <a:ln/>
        </p:spPr>
        <p:txBody>
          <a:bodyPr wrap="square" lIns="0" tIns="0" rIns="0" bIns="0" rtlCol="0" anchor="t"/>
          <a:lstStyle/>
          <a:p>
            <a:pPr indent="0" marL="0">
              <a:buNone/>
            </a:pPr>
            <a:r>
              <a:rPr lang="en-US" sz="1400" dirty="0">
                <a:solidFill>
                  <a:srgbClr val="2B2B2B"/>
                </a:solidFill>
                <a:latin typeface="Calibri" pitchFamily="34" charset="0"/>
                <a:ea typeface="Calibri" pitchFamily="34" charset="-122"/>
                <a:cs typeface="Calibri" pitchFamily="34" charset="-120"/>
              </a:rPr>
              <a:t>This project shows I can clean and validate a multi-sheet dataset, define KPIs, build an interactive Power BI dashboard, interpret results, and communicate actionable recommendations.</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2286000"/>
          <a:ext cx="8229600" cy="914400"/>
        </p:xfrm>
        <a:graphic>
          <a:graphicData uri="http://schemas.openxmlformats.org/drawingml/2006/table">
            <a:tbl>
              <a:tblPr/>
              <a:tblGrid>
                <a:gridCol w="4114800"/>
                <a:gridCol w="411480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Technical skills</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4B1D6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Analytical and business skills</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4B1D6E"/>
                    </a:solidFill>
                  </a:tcPr>
                </a:tc>
              </a:tr>
              <a:tr h="384048">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Excel data cleaning and validation</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Problem definition and KPI design</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Power BI data modelling</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Interpreting payment performance</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r>
              <a:tr h="384048">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DAX measures and KPI cards</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Separating facts from hypotheses</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Interactive dashboard design</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c>
                  <a:txBody>
                    <a:bodyPr/>
                    <a:lstStyle/>
                    <a:p>
                      <a:pPr indent="0" marL="0">
                        <a:buNone/>
                      </a:pPr>
                      <a:r>
                        <a:rPr lang="en-US" sz="1200" dirty="0">
                          <a:solidFill>
                            <a:srgbClr val="2B2B2B"/>
                          </a:solidFill>
                          <a:latin typeface="Calibri" pitchFamily="34" charset="0"/>
                          <a:ea typeface="Calibri" pitchFamily="34" charset="-122"/>
                          <a:cs typeface="Calibri" pitchFamily="34" charset="-120"/>
                        </a:rPr>
                        <a:t>Communicating recommendations</a:t>
                      </a:r>
                      <a:endParaRPr lang="en-US" sz="1200" dirty="0">
                        <a:latin typeface="Calibri" charset="0"/>
                        <a:ea typeface="Calibri" charset="0"/>
                        <a:cs typeface="Calibri" charset="0"/>
                      </a:endParaRPr>
                    </a:p>
                  </a:txBody>
                  <a:tcPr marL="45720" marR="45720" marT="45720" marB="45720" anchor="ctr">
                    <a:lnL w="6350" cap="flat" cmpd="sng" algn="ctr">
                      <a:solidFill>
                        <a:srgbClr val="D9C6E4"/>
                      </a:solidFill>
                      <a:prstDash val="solid"/>
                      <a:round/>
                      <a:headEnd type="none" w="med" len="med"/>
                      <a:tailEnd type="none" w="med" len="med"/>
                    </a:lnL>
                    <a:lnR w="6350" cap="flat" cmpd="sng" algn="ctr">
                      <a:solidFill>
                        <a:srgbClr val="D9C6E4"/>
                      </a:solidFill>
                      <a:prstDash val="solid"/>
                      <a:round/>
                      <a:headEnd type="none" w="med" len="med"/>
                      <a:tailEnd type="none" w="med" len="med"/>
                    </a:lnR>
                    <a:lnT w="6350" cap="flat" cmpd="sng" algn="ctr">
                      <a:solidFill>
                        <a:srgbClr val="D9C6E4"/>
                      </a:solidFill>
                      <a:prstDash val="solid"/>
                      <a:round/>
                      <a:headEnd type="none" w="med" len="med"/>
                      <a:tailEnd type="none" w="med" len="med"/>
                    </a:lnT>
                    <a:lnB w="6350" cap="flat" cmpd="sng" algn="ctr">
                      <a:solidFill>
                        <a:srgbClr val="D9C6E4"/>
                      </a:solidFill>
                      <a:prstDash val="solid"/>
                      <a:round/>
                      <a:headEnd type="none" w="med" len="med"/>
                      <a:tailEnd type="none" w="med" len="med"/>
                    </a:lnB>
                    <a:solidFill>
                      <a:srgbClr val="F6EEF9"/>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PhonePe Transaction Analysis Using Excel and Power BI</dc:title>
  <dc:subject>PptxGenJS Presentation</dc:subject>
  <dc:creator>Data Analyst Portfolio</dc:creator>
  <cp:lastModifiedBy>Data Analyst Portfolio</cp:lastModifiedBy>
  <cp:revision>1</cp:revision>
  <dcterms:created xsi:type="dcterms:W3CDTF">2026-10-20T16:11:13Z</dcterms:created>
  <dcterms:modified xsi:type="dcterms:W3CDTF">2026-10-20T16:11:13Z</dcterms:modified>
</cp:coreProperties>
</file>